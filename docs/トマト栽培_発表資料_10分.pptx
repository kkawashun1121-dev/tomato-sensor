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トマトの栽培データを記録・可視化するシステムについて発表します。最終目標は糖度と収穫量を高めること。前半で前期に作ったシステム、後半でデータを活かす後期・今後の取り組みを話します。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発表は2部構成です。前半4分で前期に作ったシステム、後半6分でデータを活かす後期・今後の取り組みを話します。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栽培は経験や勘に頼りがち。データで見える化し、最終的には機械学習で糖度と収穫量を高める条件を見つけたい。前期はその第一歩としてデータを集める仕組みを作りました。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システムは『測る・ためる・見せる』の3つ。測る=ESP32＋センサー、ためる=DB、見せる=ブラウザ。土壌水分は1株を3本で測り平均する方式で精度を高めています。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測る部分の中心は WiFi 付きマイコンの ESP32。静電容量式の土壌水分センサー3本をつなぎ、土に挿すだけで水分を測れます。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電池で動かすため、普段はディープスリープで眠り、決まった時間だけ起きて測って送ります。コンセントの無い場所でも運用できます。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マイコンは ESP32 を C++ で。サーバーは Python の FastAPI と PostgreSQL を Docker で。画面は React と Chart.js。天気は Open-Meteo、管理は Git/GitHub。3領域を一つにつなげたのが特徴です。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ESP32 が値を読み WiFi で HTTP POST(JSON)。サーバーが保存し、ブラウザは GET で取得して描画。天気は別スクリプトが取得して POST。全部 REST＋JSON で、後から拡張しやすい作りです。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これが実際の画面です。3本の最新水分と平均、天気・気温・日照、株ごとの推移グラフ、水やり・収穫・糖度の履歴が分かります。スマホからも確認できます。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実際にトマトの株にセンサーを挿して運用しています。開花日や実のサイズ・糖度・写真も記録でき、開花からの累積日照時間も自動計算します。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つながらない問題はファイアウォール・ネットワーク種別・CORSで解決。HEIC写真はサーバーで自動JPEG変換。天気データの抜けは1日1回取得＋さかのぼり補完に改良。原因を一つずつ調べて乗り越えました。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ここからは後半、ためたデータをどう活かすか、後期と今後の取り組みです。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後期の目標は、集めたデータで『糖度と収穫量を高める条件』を機械学習で見つけること。前期で基盤ができたので、後期は予測・分析を加えます。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トマトは水を絞ると糖度↑だが収穫量↓という相反関係があります。複数要因の最適バランスは人手では見つけにくい。だから複数データをまとめて学習させる機械学習に意味があります。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使うデータは前期で集めたもの。正解は糖度と収穫量、入力は水分・気温・湿度・日照・水やり間隔・累積日照。正解も入力も既に取れているので、あとはデータを増やしてモデルを作る段階です。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糖度・収穫量の正解は 1 収穫 = 1 件で、年間で数十件、100 件未満になる可能性が高い。方針は 3 つ。①深層学習は避け、Ridge/Lasso・RF・LightGBM・GPR など少データに安定する手法を使う。②開花からの累積日照や水ストレス日数など栽培知識を反映した特徴量を作る。③時系列を守った Leave-One-Out 交差検証で、限られたデータを最大限活用する。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データがほんの数件〜数十件と極端に少ないときは、手法を選ぶ以前に進め方を切り替える。Phase 1(初期)は無理に予測モデルを作らず、ベイズ最適化で次に試す条件をシステムに提案させ、相関や可視化中心の探索的分析で傾向を掴む。Phase 2(蓄積後)に Ridge/Lasso・RF・LightGBM・GPR で予測モデルを作る。1シーズンで足りなければ複数シーズンを連結する。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いきなり複雑にせず段階的に。まず回帰・決定木は少データでも扱え理由が説明しやすい。次にランダムフォレストは条件の組み合わせ(非線形)を捉え、どの要因が効くかが分かるので栽培の示唆に直結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データが増えたら、LightGBM は表データに強く少〜中規模でも高精度で交互作用も自動。LSTM は日照や水分の積み重ね・前日からの変化という時間的つながりを学べるので向いています。ライブラリは scikit-learn など。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評価も理由つき。時系列分割は、ランダム分割だと未来で過去を当てるリークが起きるため。実用は未来予測なので時間順評価が必須。指標は MAE と RMSE で、直感的な単位でズレを測り、大外れと平均的ズレの両面で見ます。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当面の課題はデータ量。1日数回の測定を続け、糖度・収穫量とあわせてためます。天気は1日1回自動補完。今後はデータ蓄積→モデル試作→時系列検証→改善のステップで進めます。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まとめ。前期は『測る・ためる・見せる』を一通り作り、通信や写真形式の課題も解決。後期はこのデータを機械学習に活かし、糖度と収穫量を高める育て方を見つけます。ありがとうございました。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2011680"/>
            <a:ext cx="201168" cy="1828800"/>
          </a:xfrm>
          <a:prstGeom prst="rect">
            <a:avLst/>
          </a:prstGeom>
          <a:solidFill>
            <a:srgbClr val="E2483D"/>
          </a:solidFill>
          <a:ln/>
        </p:spPr>
      </p:sp>
      <p:sp>
        <p:nvSpPr>
          <p:cNvPr id="3" name="Text 1"/>
          <p:cNvSpPr/>
          <p:nvPr/>
        </p:nvSpPr>
        <p:spPr>
          <a:xfrm>
            <a:off x="1143000" y="1965960"/>
            <a:ext cx="6766560" cy="1828800"/>
          </a:xfrm>
          <a:prstGeom prst="rect">
            <a:avLst/>
          </a:prstGeom>
          <a:noFill/>
          <a:ln/>
        </p:spPr>
        <p:txBody>
          <a:bodyPr wrap="square" lIns="0" tIns="0" rIns="0" bIns="0" rtlCol="0" anchor="ctr"/>
          <a:lstStyle/>
          <a:p>
            <a:pPr indent="0" marL="0">
              <a:lnSpc>
                <a:spcPct val="105000"/>
              </a:lnSpc>
              <a:buNone/>
            </a:pPr>
            <a:r>
              <a:rPr lang="en-US" sz="4000" b="1" dirty="0">
                <a:solidFill>
                  <a:srgbClr val="2D2D2D"/>
                </a:solidFill>
                <a:latin typeface="Meiryo" pitchFamily="34" charset="0"/>
                <a:ea typeface="Meiryo" pitchFamily="34" charset="-122"/>
                <a:cs typeface="Meiryo" pitchFamily="34" charset="-120"/>
              </a:rPr>
              <a:t>トマト栽培データ</a:t>
            </a:r>
            <a:endParaRPr lang="en-US" sz="4000" dirty="0"/>
          </a:p>
          <a:p>
            <a:pPr indent="0" marL="0">
              <a:lnSpc>
                <a:spcPct val="105000"/>
              </a:lnSpc>
              <a:buNone/>
            </a:pPr>
            <a:r>
              <a:rPr lang="en-US" sz="4000" b="1" dirty="0">
                <a:solidFill>
                  <a:srgbClr val="2D2D2D"/>
                </a:solidFill>
                <a:latin typeface="Meiryo" pitchFamily="34" charset="0"/>
                <a:ea typeface="Meiryo" pitchFamily="34" charset="-122"/>
                <a:cs typeface="Meiryo" pitchFamily="34" charset="-120"/>
              </a:rPr>
              <a:t>モニタリングシステム</a:t>
            </a:r>
            <a:endParaRPr lang="en-US" sz="4000" dirty="0"/>
          </a:p>
        </p:txBody>
      </p:sp>
      <p:sp>
        <p:nvSpPr>
          <p:cNvPr id="4" name="Text 2"/>
          <p:cNvSpPr/>
          <p:nvPr/>
        </p:nvSpPr>
        <p:spPr>
          <a:xfrm>
            <a:off x="1170432" y="3931920"/>
            <a:ext cx="6766560" cy="457200"/>
          </a:xfrm>
          <a:prstGeom prst="rect">
            <a:avLst/>
          </a:prstGeom>
          <a:noFill/>
          <a:ln/>
        </p:spPr>
        <p:txBody>
          <a:bodyPr wrap="square" lIns="0" tIns="0" rIns="0" bIns="0" rtlCol="0" anchor="ctr"/>
          <a:lstStyle/>
          <a:p>
            <a:pPr indent="0" marL="0">
              <a:buNone/>
            </a:pPr>
            <a:r>
              <a:rPr lang="en-US" sz="1900" b="1" dirty="0">
                <a:solidFill>
                  <a:srgbClr val="E2483D"/>
                </a:solidFill>
                <a:latin typeface="Meiryo" pitchFamily="34" charset="0"/>
                <a:ea typeface="Meiryo" pitchFamily="34" charset="-122"/>
                <a:cs typeface="Meiryo" pitchFamily="34" charset="-120"/>
              </a:rPr>
              <a:t>糖度と収穫量を高める  IoT × データ活用</a:t>
            </a:r>
            <a:endParaRPr lang="en-US" sz="1900" dirty="0"/>
          </a:p>
        </p:txBody>
      </p:sp>
      <p:sp>
        <p:nvSpPr>
          <p:cNvPr id="5" name="Text 3"/>
          <p:cNvSpPr/>
          <p:nvPr/>
        </p:nvSpPr>
        <p:spPr>
          <a:xfrm>
            <a:off x="1170432" y="4498848"/>
            <a:ext cx="6949440" cy="365760"/>
          </a:xfrm>
          <a:prstGeom prst="rect">
            <a:avLst/>
          </a:prstGeom>
          <a:noFill/>
          <a:ln/>
        </p:spPr>
        <p:txBody>
          <a:bodyPr wrap="square" lIns="0" tIns="0" rIns="0" bIns="0" rtlCol="0" anchor="ctr"/>
          <a:lstStyle/>
          <a:p>
            <a:pPr indent="0" marL="0">
              <a:buNone/>
            </a:pPr>
            <a:r>
              <a:rPr lang="en-US" sz="1250" dirty="0">
                <a:solidFill>
                  <a:srgbClr val="70757A"/>
                </a:solidFill>
                <a:latin typeface="Meiryo" pitchFamily="34" charset="0"/>
                <a:ea typeface="Meiryo" pitchFamily="34" charset="-122"/>
                <a:cs typeface="Meiryo" pitchFamily="34" charset="-120"/>
              </a:rPr>
              <a:t>成果物発表（前期の取り組み ＋ 後期・今後の取り組み）</a:t>
            </a:r>
            <a:endParaRPr lang="en-US" sz="1250" dirty="0"/>
          </a:p>
        </p:txBody>
      </p:sp>
      <p:sp>
        <p:nvSpPr>
          <p:cNvPr id="6" name="Text 4"/>
          <p:cNvSpPr/>
          <p:nvPr/>
        </p:nvSpPr>
        <p:spPr>
          <a:xfrm>
            <a:off x="1170432" y="5943600"/>
            <a:ext cx="7315200" cy="365760"/>
          </a:xfrm>
          <a:prstGeom prst="rect">
            <a:avLst/>
          </a:prstGeom>
          <a:noFill/>
          <a:ln/>
        </p:spPr>
        <p:txBody>
          <a:bodyPr wrap="square" lIns="0" tIns="0" rIns="0" bIns="0" rtlCol="0" anchor="ctr"/>
          <a:lstStyle/>
          <a:p>
            <a:pPr indent="0" marL="0">
              <a:buNone/>
            </a:pPr>
            <a:r>
              <a:rPr lang="en-US" sz="1300" dirty="0">
                <a:solidFill>
                  <a:srgbClr val="2D2D2D"/>
                </a:solidFill>
                <a:latin typeface="Meiryo" pitchFamily="34" charset="0"/>
                <a:ea typeface="Meiryo" pitchFamily="34" charset="-122"/>
                <a:cs typeface="Meiryo" pitchFamily="34" charset="-120"/>
              </a:rPr>
              <a:t>18124058  河村隼介</a:t>
            </a:r>
            <a:endParaRPr lang="en-US" sz="1300" dirty="0"/>
          </a:p>
        </p:txBody>
      </p:sp>
      <p:sp>
        <p:nvSpPr>
          <p:cNvPr id="7" name="Shape 5"/>
          <p:cNvSpPr/>
          <p:nvPr/>
        </p:nvSpPr>
        <p:spPr>
          <a:xfrm>
            <a:off x="8366760" y="1600200"/>
            <a:ext cx="3200400" cy="3566160"/>
          </a:xfrm>
          <a:prstGeom prst="roundRect">
            <a:avLst>
              <a:gd name="adj" fmla="val 3429"/>
            </a:avLst>
          </a:prstGeom>
          <a:solidFill>
            <a:srgbClr val="F4F6F6"/>
          </a:solidFill>
          <a:ln w="12700">
            <a:solidFill>
              <a:srgbClr val="D9DEDE"/>
            </a:solidFill>
            <a:prstDash val="solid"/>
          </a:ln>
          <a:effectLst>
            <a:outerShdw sx="100000" sy="100000" kx="0" ky="0" algn="bl" rotWithShape="0" blurRad="101600" dist="25400" dir="8100000">
              <a:srgbClr val="000000">
                <a:alpha val="12000"/>
              </a:srgbClr>
            </a:outerShdw>
          </a:effectLst>
        </p:spPr>
      </p:sp>
      <p:pic>
        <p:nvPicPr>
          <p:cNvPr id="8" name="Image 0" descr="img/sensor.png">    </p:cNvPr>
          <p:cNvPicPr>
            <a:picLocks noChangeAspect="1"/>
          </p:cNvPicPr>
          <p:nvPr/>
        </p:nvPicPr>
        <p:blipFill>
          <a:blip r:embed="rId1"/>
          <a:stretch>
            <a:fillRect/>
          </a:stretch>
        </p:blipFill>
        <p:spPr>
          <a:xfrm>
            <a:off x="8641080" y="1828800"/>
            <a:ext cx="2651760" cy="2651760"/>
          </a:xfrm>
          <a:prstGeom prst="rect">
            <a:avLst/>
          </a:prstGeom>
        </p:spPr>
      </p:pic>
      <p:sp>
        <p:nvSpPr>
          <p:cNvPr id="9" name="Text 6"/>
          <p:cNvSpPr/>
          <p:nvPr/>
        </p:nvSpPr>
        <p:spPr>
          <a:xfrm>
            <a:off x="8366760" y="4526280"/>
            <a:ext cx="3200400" cy="365760"/>
          </a:xfrm>
          <a:prstGeom prst="rect">
            <a:avLst/>
          </a:prstGeom>
          <a:noFill/>
          <a:ln/>
        </p:spPr>
        <p:txBody>
          <a:bodyPr wrap="square" lIns="0" tIns="0" rIns="0" bIns="0" rtlCol="0" anchor="ctr"/>
          <a:lstStyle/>
          <a:p>
            <a:pPr algn="ctr" indent="0" marL="0">
              <a:buNone/>
            </a:pPr>
            <a:r>
              <a:rPr lang="en-US" sz="1150" dirty="0">
                <a:solidFill>
                  <a:srgbClr val="70757A"/>
                </a:solidFill>
                <a:latin typeface="Meiryo" pitchFamily="34" charset="0"/>
                <a:ea typeface="Meiryo" pitchFamily="34" charset="-122"/>
                <a:cs typeface="Meiryo" pitchFamily="34" charset="-120"/>
              </a:rPr>
              <a:t>静電容量式 土壌水分センサー</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182880" cy="384048"/>
          </a:xfrm>
          <a:prstGeom prst="rect">
            <a:avLst/>
          </a:prstGeom>
          <a:solidFill>
            <a:srgbClr val="E2483D"/>
          </a:solidFill>
          <a:ln/>
        </p:spPr>
      </p:sp>
      <p:sp>
        <p:nvSpPr>
          <p:cNvPr id="3" name="Text 1"/>
          <p:cNvSpPr/>
          <p:nvPr/>
        </p:nvSpPr>
        <p:spPr>
          <a:xfrm>
            <a:off x="868680" y="393192"/>
            <a:ext cx="10607040" cy="640080"/>
          </a:xfrm>
          <a:prstGeom prst="rect">
            <a:avLst/>
          </a:prstGeom>
          <a:noFill/>
          <a:ln/>
        </p:spPr>
        <p:txBody>
          <a:bodyPr wrap="square" lIns="0" tIns="0" rIns="0" bIns="0" rtlCol="0" anchor="ctr"/>
          <a:lstStyle/>
          <a:p>
            <a:pPr indent="0" marL="0">
              <a:buNone/>
            </a:pPr>
            <a:r>
              <a:rPr lang="en-US" sz="2900" b="1" dirty="0">
                <a:solidFill>
                  <a:srgbClr val="2D2D2D"/>
                </a:solidFill>
                <a:latin typeface="Meiryo" pitchFamily="34" charset="0"/>
                <a:ea typeface="Meiryo" pitchFamily="34" charset="-122"/>
                <a:cs typeface="Meiryo" pitchFamily="34" charset="-120"/>
              </a:rPr>
              <a:t>発表の流れ</a:t>
            </a:r>
            <a:endParaRPr lang="en-US" sz="2900" dirty="0"/>
          </a:p>
        </p:txBody>
      </p:sp>
      <p:sp>
        <p:nvSpPr>
          <p:cNvPr id="4" name="Text 2"/>
          <p:cNvSpPr/>
          <p:nvPr/>
        </p:nvSpPr>
        <p:spPr>
          <a:xfrm>
            <a:off x="886968" y="1024128"/>
            <a:ext cx="10607040" cy="365760"/>
          </a:xfrm>
          <a:prstGeom prst="rect">
            <a:avLst/>
          </a:prstGeom>
          <a:noFill/>
          <a:ln/>
        </p:spPr>
        <p:txBody>
          <a:bodyPr wrap="square" lIns="0" tIns="0" rIns="0" bIns="0" rtlCol="0" anchor="ctr"/>
          <a:lstStyle/>
          <a:p>
            <a:pPr indent="0" marL="0">
              <a:buNone/>
            </a:pPr>
            <a:r>
              <a:rPr lang="en-US" sz="1350" dirty="0">
                <a:solidFill>
                  <a:srgbClr val="70757A"/>
                </a:solidFill>
                <a:latin typeface="Meiryo" pitchFamily="34" charset="0"/>
                <a:ea typeface="Meiryo" pitchFamily="34" charset="-122"/>
                <a:cs typeface="Meiryo" pitchFamily="34" charset="-120"/>
              </a:rPr>
              <a:t>2部構成でお話しします</a:t>
            </a:r>
            <a:endParaRPr lang="en-US" sz="1350" dirty="0"/>
          </a:p>
        </p:txBody>
      </p:sp>
      <p:sp>
        <p:nvSpPr>
          <p:cNvPr id="5" name="Shape 3"/>
          <p:cNvSpPr/>
          <p:nvPr/>
        </p:nvSpPr>
        <p:spPr>
          <a:xfrm>
            <a:off x="868680" y="1920240"/>
            <a:ext cx="5074920" cy="3291840"/>
          </a:xfrm>
          <a:prstGeom prst="roundRect">
            <a:avLst>
              <a:gd name="adj" fmla="val 2778"/>
            </a:avLst>
          </a:prstGeom>
          <a:solidFill>
            <a:srgbClr val="F4F6F6"/>
          </a:solidFill>
          <a:ln/>
          <a:effectLst>
            <a:outerShdw sx="100000" sy="100000" kx="0" ky="0" algn="bl" rotWithShape="0" blurRad="101600" dist="25400" dir="8100000">
              <a:srgbClr val="000000">
                <a:alpha val="12000"/>
              </a:srgbClr>
            </a:outerShdw>
          </a:effectLst>
        </p:spPr>
      </p:sp>
      <p:sp>
        <p:nvSpPr>
          <p:cNvPr id="6" name="Shape 4"/>
          <p:cNvSpPr/>
          <p:nvPr/>
        </p:nvSpPr>
        <p:spPr>
          <a:xfrm>
            <a:off x="1234440" y="2286000"/>
            <a:ext cx="1828800" cy="640080"/>
          </a:xfrm>
          <a:prstGeom prst="roundRect">
            <a:avLst>
              <a:gd name="adj" fmla="val 50000"/>
            </a:avLst>
          </a:prstGeom>
          <a:solidFill>
            <a:srgbClr val="E2483D"/>
          </a:solidFill>
          <a:ln/>
        </p:spPr>
      </p:sp>
      <p:sp>
        <p:nvSpPr>
          <p:cNvPr id="7" name="Text 5"/>
          <p:cNvSpPr/>
          <p:nvPr/>
        </p:nvSpPr>
        <p:spPr>
          <a:xfrm>
            <a:off x="1234440" y="2286000"/>
            <a:ext cx="182880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前半 ・ 約4分</a:t>
            </a:r>
            <a:endParaRPr lang="en-US" sz="1400" dirty="0"/>
          </a:p>
        </p:txBody>
      </p:sp>
      <p:sp>
        <p:nvSpPr>
          <p:cNvPr id="8" name="Text 6"/>
          <p:cNvSpPr/>
          <p:nvPr/>
        </p:nvSpPr>
        <p:spPr>
          <a:xfrm>
            <a:off x="1234440" y="3108960"/>
            <a:ext cx="4389120" cy="548640"/>
          </a:xfrm>
          <a:prstGeom prst="rect">
            <a:avLst/>
          </a:prstGeom>
          <a:noFill/>
          <a:ln/>
        </p:spPr>
        <p:txBody>
          <a:bodyPr wrap="square" lIns="0" tIns="0" rIns="0" bIns="0" rtlCol="0" anchor="ctr"/>
          <a:lstStyle/>
          <a:p>
            <a:pPr indent="0" marL="0">
              <a:buNone/>
            </a:pPr>
            <a:r>
              <a:rPr lang="en-US" sz="2100" b="1" dirty="0">
                <a:solidFill>
                  <a:srgbClr val="2D2D2D"/>
                </a:solidFill>
                <a:latin typeface="Meiryo" pitchFamily="34" charset="0"/>
                <a:ea typeface="Meiryo" pitchFamily="34" charset="-122"/>
                <a:cs typeface="Meiryo" pitchFamily="34" charset="-120"/>
              </a:rPr>
              <a:t>前期取り組み</a:t>
            </a:r>
            <a:endParaRPr lang="en-US" sz="2100" dirty="0"/>
          </a:p>
        </p:txBody>
      </p:sp>
      <p:sp>
        <p:nvSpPr>
          <p:cNvPr id="9" name="Text 7"/>
          <p:cNvSpPr/>
          <p:nvPr/>
        </p:nvSpPr>
        <p:spPr>
          <a:xfrm>
            <a:off x="1234440" y="3749040"/>
            <a:ext cx="4389120" cy="1280160"/>
          </a:xfrm>
          <a:prstGeom prst="rect">
            <a:avLst/>
          </a:prstGeom>
          <a:noFill/>
          <a:ln/>
        </p:spPr>
        <p:txBody>
          <a:bodyPr wrap="square" lIns="0" tIns="0" rIns="0" bIns="0" rtlCol="0" anchor="ctr"/>
          <a:lstStyle/>
          <a:p>
            <a:pPr indent="0" marL="0">
              <a:lnSpc>
                <a:spcPct val="110000"/>
              </a:lnSpc>
              <a:buNone/>
            </a:pPr>
            <a:r>
              <a:rPr lang="en-US" sz="1400" dirty="0">
                <a:solidFill>
                  <a:srgbClr val="70757A"/>
                </a:solidFill>
                <a:latin typeface="Meiryo" pitchFamily="34" charset="0"/>
                <a:ea typeface="Meiryo" pitchFamily="34" charset="-122"/>
                <a:cs typeface="Meiryo" pitchFamily="34" charset="-120"/>
              </a:rPr>
              <a:t>前期に作った「測る・ためる・見せる」</a:t>
            </a:r>
            <a:endParaRPr lang="en-US" sz="1400" dirty="0"/>
          </a:p>
          <a:p>
            <a:pPr indent="0" marL="0">
              <a:lnSpc>
                <a:spcPct val="110000"/>
              </a:lnSpc>
              <a:buNone/>
            </a:pPr>
            <a:r>
              <a:rPr lang="en-US" sz="1400" dirty="0">
                <a:solidFill>
                  <a:srgbClr val="70757A"/>
                </a:solidFill>
                <a:latin typeface="Meiryo" pitchFamily="34" charset="0"/>
                <a:ea typeface="Meiryo" pitchFamily="34" charset="-122"/>
                <a:cs typeface="Meiryo" pitchFamily="34" charset="-120"/>
              </a:rPr>
              <a:t>システムの紹介</a:t>
            </a:r>
            <a:endParaRPr lang="en-US" sz="1400" dirty="0"/>
          </a:p>
        </p:txBody>
      </p:sp>
      <p:sp>
        <p:nvSpPr>
          <p:cNvPr id="10" name="Shape 8"/>
          <p:cNvSpPr/>
          <p:nvPr/>
        </p:nvSpPr>
        <p:spPr>
          <a:xfrm>
            <a:off x="6263640" y="1920240"/>
            <a:ext cx="5074920" cy="3291840"/>
          </a:xfrm>
          <a:prstGeom prst="roundRect">
            <a:avLst>
              <a:gd name="adj" fmla="val 2778"/>
            </a:avLst>
          </a:prstGeom>
          <a:solidFill>
            <a:srgbClr val="F4F6F6"/>
          </a:solidFill>
          <a:ln/>
          <a:effectLst>
            <a:outerShdw sx="100000" sy="100000" kx="0" ky="0" algn="bl" rotWithShape="0" blurRad="101600" dist="25400" dir="8100000">
              <a:srgbClr val="000000">
                <a:alpha val="12000"/>
              </a:srgbClr>
            </a:outerShdw>
          </a:effectLst>
        </p:spPr>
      </p:sp>
      <p:sp>
        <p:nvSpPr>
          <p:cNvPr id="11" name="Shape 9"/>
          <p:cNvSpPr/>
          <p:nvPr/>
        </p:nvSpPr>
        <p:spPr>
          <a:xfrm>
            <a:off x="6629400" y="2286000"/>
            <a:ext cx="1828800" cy="640080"/>
          </a:xfrm>
          <a:prstGeom prst="roundRect">
            <a:avLst>
              <a:gd name="adj" fmla="val 50000"/>
            </a:avLst>
          </a:prstGeom>
          <a:solidFill>
            <a:srgbClr val="2FA15A"/>
          </a:solidFill>
          <a:ln/>
        </p:spPr>
      </p:sp>
      <p:sp>
        <p:nvSpPr>
          <p:cNvPr id="12" name="Text 10"/>
          <p:cNvSpPr/>
          <p:nvPr/>
        </p:nvSpPr>
        <p:spPr>
          <a:xfrm>
            <a:off x="6629400" y="2286000"/>
            <a:ext cx="182880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後半 ・ 約6分</a:t>
            </a:r>
            <a:endParaRPr lang="en-US" sz="1400" dirty="0"/>
          </a:p>
        </p:txBody>
      </p:sp>
      <p:sp>
        <p:nvSpPr>
          <p:cNvPr id="13" name="Text 11"/>
          <p:cNvSpPr/>
          <p:nvPr/>
        </p:nvSpPr>
        <p:spPr>
          <a:xfrm>
            <a:off x="6629400" y="3108960"/>
            <a:ext cx="4389120" cy="548640"/>
          </a:xfrm>
          <a:prstGeom prst="rect">
            <a:avLst/>
          </a:prstGeom>
          <a:noFill/>
          <a:ln/>
        </p:spPr>
        <p:txBody>
          <a:bodyPr wrap="square" lIns="0" tIns="0" rIns="0" bIns="0" rtlCol="0" anchor="ctr"/>
          <a:lstStyle/>
          <a:p>
            <a:pPr indent="0" marL="0">
              <a:buNone/>
            </a:pPr>
            <a:r>
              <a:rPr lang="en-US" sz="2100" b="1" dirty="0">
                <a:solidFill>
                  <a:srgbClr val="2D2D2D"/>
                </a:solidFill>
                <a:latin typeface="Meiryo" pitchFamily="34" charset="0"/>
                <a:ea typeface="Meiryo" pitchFamily="34" charset="-122"/>
                <a:cs typeface="Meiryo" pitchFamily="34" charset="-120"/>
              </a:rPr>
              <a:t>後期・今後</a:t>
            </a:r>
            <a:endParaRPr lang="en-US" sz="2100" dirty="0"/>
          </a:p>
        </p:txBody>
      </p:sp>
      <p:sp>
        <p:nvSpPr>
          <p:cNvPr id="14" name="Text 12"/>
          <p:cNvSpPr/>
          <p:nvPr/>
        </p:nvSpPr>
        <p:spPr>
          <a:xfrm>
            <a:off x="6629400" y="3749040"/>
            <a:ext cx="4389120" cy="1280160"/>
          </a:xfrm>
          <a:prstGeom prst="rect">
            <a:avLst/>
          </a:prstGeom>
          <a:noFill/>
          <a:ln/>
        </p:spPr>
        <p:txBody>
          <a:bodyPr wrap="square" lIns="0" tIns="0" rIns="0" bIns="0" rtlCol="0" anchor="ctr"/>
          <a:lstStyle/>
          <a:p>
            <a:pPr indent="0" marL="0">
              <a:lnSpc>
                <a:spcPct val="110000"/>
              </a:lnSpc>
              <a:buNone/>
            </a:pPr>
            <a:r>
              <a:rPr lang="en-US" sz="1400" dirty="0">
                <a:solidFill>
                  <a:srgbClr val="70757A"/>
                </a:solidFill>
                <a:latin typeface="Meiryo" pitchFamily="34" charset="0"/>
                <a:ea typeface="Meiryo" pitchFamily="34" charset="-122"/>
                <a:cs typeface="Meiryo" pitchFamily="34" charset="-120"/>
              </a:rPr>
              <a:t>ためたデータを機械学習に活かし、</a:t>
            </a:r>
            <a:endParaRPr lang="en-US" sz="1400" dirty="0"/>
          </a:p>
          <a:p>
            <a:pPr indent="0" marL="0">
              <a:lnSpc>
                <a:spcPct val="110000"/>
              </a:lnSpc>
              <a:buNone/>
            </a:pPr>
            <a:r>
              <a:rPr lang="en-US" sz="1400" dirty="0">
                <a:solidFill>
                  <a:srgbClr val="70757A"/>
                </a:solidFill>
                <a:latin typeface="Meiryo" pitchFamily="34" charset="0"/>
                <a:ea typeface="Meiryo" pitchFamily="34" charset="-122"/>
                <a:cs typeface="Meiryo" pitchFamily="34" charset="-120"/>
              </a:rPr>
              <a:t>糖度と収穫量を高める取り組み</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182880" cy="384048"/>
          </a:xfrm>
          <a:prstGeom prst="rect">
            <a:avLst/>
          </a:prstGeom>
          <a:solidFill>
            <a:srgbClr val="E2483D"/>
          </a:solidFill>
          <a:ln/>
        </p:spPr>
      </p:sp>
      <p:sp>
        <p:nvSpPr>
          <p:cNvPr id="3" name="Text 1"/>
          <p:cNvSpPr/>
          <p:nvPr/>
        </p:nvSpPr>
        <p:spPr>
          <a:xfrm>
            <a:off x="868680" y="393192"/>
            <a:ext cx="10607040" cy="640080"/>
          </a:xfrm>
          <a:prstGeom prst="rect">
            <a:avLst/>
          </a:prstGeom>
          <a:noFill/>
          <a:ln/>
        </p:spPr>
        <p:txBody>
          <a:bodyPr wrap="square" lIns="0" tIns="0" rIns="0" bIns="0" rtlCol="0" anchor="ctr"/>
          <a:lstStyle/>
          <a:p>
            <a:pPr indent="0" marL="0">
              <a:buNone/>
            </a:pPr>
            <a:r>
              <a:rPr lang="en-US" sz="2900" b="1" dirty="0">
                <a:solidFill>
                  <a:srgbClr val="2D2D2D"/>
                </a:solidFill>
                <a:latin typeface="Meiryo" pitchFamily="34" charset="0"/>
                <a:ea typeface="Meiryo" pitchFamily="34" charset="-122"/>
                <a:cs typeface="Meiryo" pitchFamily="34" charset="-120"/>
              </a:rPr>
              <a:t>研究の目的・背景</a:t>
            </a:r>
            <a:endParaRPr lang="en-US" sz="2900" dirty="0"/>
          </a:p>
        </p:txBody>
      </p:sp>
      <p:sp>
        <p:nvSpPr>
          <p:cNvPr id="4" name="Text 2"/>
          <p:cNvSpPr/>
          <p:nvPr/>
        </p:nvSpPr>
        <p:spPr>
          <a:xfrm>
            <a:off x="886968" y="1024128"/>
            <a:ext cx="10607040" cy="365760"/>
          </a:xfrm>
          <a:prstGeom prst="rect">
            <a:avLst/>
          </a:prstGeom>
          <a:noFill/>
          <a:ln/>
        </p:spPr>
        <p:txBody>
          <a:bodyPr wrap="square" lIns="0" tIns="0" rIns="0" bIns="0" rtlCol="0" anchor="ctr"/>
          <a:lstStyle/>
          <a:p>
            <a:pPr indent="0" marL="0">
              <a:buNone/>
            </a:pPr>
            <a:r>
              <a:rPr lang="en-US" sz="1350" dirty="0">
                <a:solidFill>
                  <a:srgbClr val="70757A"/>
                </a:solidFill>
                <a:latin typeface="Meiryo" pitchFamily="34" charset="0"/>
                <a:ea typeface="Meiryo" pitchFamily="34" charset="-122"/>
                <a:cs typeface="Meiryo" pitchFamily="34" charset="-120"/>
              </a:rPr>
              <a:t>感覚頼りの栽培を、データで見える化する</a:t>
            </a:r>
            <a:endParaRPr lang="en-US" sz="1350" dirty="0"/>
          </a:p>
        </p:txBody>
      </p:sp>
      <p:sp>
        <p:nvSpPr>
          <p:cNvPr id="5" name="Text 3"/>
          <p:cNvSpPr/>
          <p:nvPr/>
        </p:nvSpPr>
        <p:spPr>
          <a:xfrm>
            <a:off x="886968" y="1737360"/>
            <a:ext cx="10424160" cy="822960"/>
          </a:xfrm>
          <a:prstGeom prst="rect">
            <a:avLst/>
          </a:prstGeom>
          <a:noFill/>
          <a:ln/>
        </p:spPr>
        <p:txBody>
          <a:bodyPr wrap="square" lIns="0" tIns="0" rIns="0" bIns="0" rtlCol="0" anchor="ctr"/>
          <a:lstStyle/>
          <a:p>
            <a:pPr indent="0" marL="0">
              <a:lnSpc>
                <a:spcPct val="120000"/>
              </a:lnSpc>
              <a:buNone/>
            </a:pPr>
            <a:r>
              <a:rPr lang="en-US" sz="1600" dirty="0">
                <a:solidFill>
                  <a:srgbClr val="2D2D2D"/>
                </a:solidFill>
                <a:latin typeface="Meiryo" pitchFamily="34" charset="0"/>
                <a:ea typeface="Meiryo" pitchFamily="34" charset="-122"/>
                <a:cs typeface="Meiryo" pitchFamily="34" charset="-120"/>
              </a:rPr>
              <a:t>トマトは「いつ水をやるか」「どう育てれば甘く・たくさん採れるか」が</a:t>
            </a:r>
            <a:endParaRPr lang="en-US" sz="1600" dirty="0"/>
          </a:p>
          <a:p>
            <a:pPr indent="0" marL="0">
              <a:lnSpc>
                <a:spcPct val="120000"/>
              </a:lnSpc>
              <a:buNone/>
            </a:pPr>
            <a:r>
              <a:rPr lang="en-US" sz="1600" dirty="0">
                <a:solidFill>
                  <a:srgbClr val="2D2D2D"/>
                </a:solidFill>
                <a:latin typeface="Meiryo" pitchFamily="34" charset="0"/>
                <a:ea typeface="Meiryo" pitchFamily="34" charset="-122"/>
                <a:cs typeface="Meiryo" pitchFamily="34" charset="-120"/>
              </a:rPr>
              <a:t>経験や勘に頼りがち。</a:t>
            </a:r>
            <a:endParaRPr lang="en-US" sz="1600" dirty="0"/>
          </a:p>
        </p:txBody>
      </p:sp>
      <p:sp>
        <p:nvSpPr>
          <p:cNvPr id="6" name="Shape 4"/>
          <p:cNvSpPr/>
          <p:nvPr/>
        </p:nvSpPr>
        <p:spPr>
          <a:xfrm>
            <a:off x="868680" y="2834640"/>
            <a:ext cx="10469880" cy="1371600"/>
          </a:xfrm>
          <a:prstGeom prst="roundRect">
            <a:avLst>
              <a:gd name="adj" fmla="val 6667"/>
            </a:avLst>
          </a:prstGeom>
          <a:solidFill>
            <a:srgbClr val="FCEEEC"/>
          </a:solidFill>
          <a:ln/>
        </p:spPr>
      </p:sp>
      <p:sp>
        <p:nvSpPr>
          <p:cNvPr id="7" name="Text 5"/>
          <p:cNvSpPr/>
          <p:nvPr/>
        </p:nvSpPr>
        <p:spPr>
          <a:xfrm>
            <a:off x="1188720" y="2834640"/>
            <a:ext cx="9875520" cy="1371600"/>
          </a:xfrm>
          <a:prstGeom prst="rect">
            <a:avLst/>
          </a:prstGeom>
          <a:noFill/>
          <a:ln/>
        </p:spPr>
        <p:txBody>
          <a:bodyPr wrap="square" lIns="0" tIns="0" rIns="0" bIns="0" rtlCol="0" anchor="ctr"/>
          <a:lstStyle/>
          <a:p>
            <a:pPr indent="0" marL="0">
              <a:lnSpc>
                <a:spcPct val="110000"/>
              </a:lnSpc>
              <a:buNone/>
            </a:pPr>
            <a:r>
              <a:rPr lang="en-US" sz="1800" b="1" dirty="0">
                <a:solidFill>
                  <a:srgbClr val="E2483D"/>
                </a:solidFill>
                <a:latin typeface="Meiryo" pitchFamily="34" charset="0"/>
                <a:ea typeface="Meiryo" pitchFamily="34" charset="-122"/>
                <a:cs typeface="Meiryo" pitchFamily="34" charset="-120"/>
              </a:rPr>
              <a:t>最終目標：</a:t>
            </a:r>
            <a:pPr indent="0" marL="0">
              <a:lnSpc>
                <a:spcPct val="110000"/>
              </a:lnSpc>
              <a:buNone/>
            </a:pPr>
            <a:r>
              <a:rPr lang="en-US" sz="1800" b="1" dirty="0">
                <a:solidFill>
                  <a:srgbClr val="2D2D2D"/>
                </a:solidFill>
                <a:latin typeface="Meiryo" pitchFamily="34" charset="0"/>
                <a:ea typeface="Meiryo" pitchFamily="34" charset="-122"/>
                <a:cs typeface="Meiryo" pitchFamily="34" charset="-120"/>
              </a:rPr>
              <a:t>栽培データを集めて見える化し、機械学習で「糖度と収穫量を高める条件」を見つける</a:t>
            </a:r>
            <a:endParaRPr lang="en-US" sz="1800" dirty="0"/>
          </a:p>
        </p:txBody>
      </p:sp>
      <p:sp>
        <p:nvSpPr>
          <p:cNvPr id="8" name="Text 6"/>
          <p:cNvSpPr/>
          <p:nvPr/>
        </p:nvSpPr>
        <p:spPr>
          <a:xfrm>
            <a:off x="886968" y="4572000"/>
            <a:ext cx="10424160" cy="548640"/>
          </a:xfrm>
          <a:prstGeom prst="rect">
            <a:avLst/>
          </a:prstGeom>
          <a:noFill/>
          <a:ln/>
        </p:spPr>
        <p:txBody>
          <a:bodyPr wrap="square" lIns="0" tIns="0" rIns="0" bIns="0" rtlCol="0" anchor="ctr"/>
          <a:lstStyle/>
          <a:p>
            <a:pPr indent="0" marL="0">
              <a:buNone/>
            </a:pPr>
            <a:r>
              <a:rPr lang="en-US" sz="1500" dirty="0">
                <a:solidFill>
                  <a:srgbClr val="70757A"/>
                </a:solidFill>
                <a:latin typeface="Meiryo" pitchFamily="34" charset="0"/>
                <a:ea typeface="Meiryo" pitchFamily="34" charset="-122"/>
                <a:cs typeface="Meiryo" pitchFamily="34" charset="-120"/>
              </a:rPr>
              <a:t>前期は、その第一歩として「データを正確に集める仕組み」を作りました。</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182880" cy="384048"/>
          </a:xfrm>
          <a:prstGeom prst="rect">
            <a:avLst/>
          </a:prstGeom>
          <a:solidFill>
            <a:srgbClr val="E2483D"/>
          </a:solidFill>
          <a:ln/>
        </p:spPr>
      </p:sp>
      <p:sp>
        <p:nvSpPr>
          <p:cNvPr id="3" name="Text 1"/>
          <p:cNvSpPr/>
          <p:nvPr/>
        </p:nvSpPr>
        <p:spPr>
          <a:xfrm>
            <a:off x="868680" y="393192"/>
            <a:ext cx="10607040" cy="640080"/>
          </a:xfrm>
          <a:prstGeom prst="rect">
            <a:avLst/>
          </a:prstGeom>
          <a:noFill/>
          <a:ln/>
        </p:spPr>
        <p:txBody>
          <a:bodyPr wrap="square" lIns="0" tIns="0" rIns="0" bIns="0" rtlCol="0" anchor="ctr"/>
          <a:lstStyle/>
          <a:p>
            <a:pPr indent="0" marL="0">
              <a:buNone/>
            </a:pPr>
            <a:r>
              <a:rPr lang="en-US" sz="2900" b="1" dirty="0">
                <a:solidFill>
                  <a:srgbClr val="2D2D2D"/>
                </a:solidFill>
                <a:latin typeface="Meiryo" pitchFamily="34" charset="0"/>
                <a:ea typeface="Meiryo" pitchFamily="34" charset="-122"/>
                <a:cs typeface="Meiryo" pitchFamily="34" charset="-120"/>
              </a:rPr>
              <a:t>システムの全体像</a:t>
            </a:r>
            <a:endParaRPr lang="en-US" sz="2900" dirty="0"/>
          </a:p>
        </p:txBody>
      </p:sp>
      <p:sp>
        <p:nvSpPr>
          <p:cNvPr id="4" name="Text 2"/>
          <p:cNvSpPr/>
          <p:nvPr/>
        </p:nvSpPr>
        <p:spPr>
          <a:xfrm>
            <a:off x="886968" y="1024128"/>
            <a:ext cx="10607040" cy="365760"/>
          </a:xfrm>
          <a:prstGeom prst="rect">
            <a:avLst/>
          </a:prstGeom>
          <a:noFill/>
          <a:ln/>
        </p:spPr>
        <p:txBody>
          <a:bodyPr wrap="square" lIns="0" tIns="0" rIns="0" bIns="0" rtlCol="0" anchor="ctr"/>
          <a:lstStyle/>
          <a:p>
            <a:pPr indent="0" marL="0">
              <a:buNone/>
            </a:pPr>
            <a:r>
              <a:rPr lang="en-US" sz="1350" dirty="0">
                <a:solidFill>
                  <a:srgbClr val="70757A"/>
                </a:solidFill>
                <a:latin typeface="Meiryo" pitchFamily="34" charset="0"/>
                <a:ea typeface="Meiryo" pitchFamily="34" charset="-122"/>
                <a:cs typeface="Meiryo" pitchFamily="34" charset="-120"/>
              </a:rPr>
              <a:t>「測る・ためる・見せる」の3つの役割</a:t>
            </a:r>
            <a:endParaRPr lang="en-US" sz="1350" dirty="0"/>
          </a:p>
        </p:txBody>
      </p:sp>
      <p:sp>
        <p:nvSpPr>
          <p:cNvPr id="5" name="Shape 3"/>
          <p:cNvSpPr/>
          <p:nvPr/>
        </p:nvSpPr>
        <p:spPr>
          <a:xfrm>
            <a:off x="868680" y="1691640"/>
            <a:ext cx="3383280" cy="2743200"/>
          </a:xfrm>
          <a:prstGeom prst="roundRect">
            <a:avLst>
              <a:gd name="adj" fmla="val 3333"/>
            </a:avLst>
          </a:prstGeom>
          <a:solidFill>
            <a:srgbClr val="F4F6F6"/>
          </a:solidFill>
          <a:ln/>
          <a:effectLst>
            <a:outerShdw sx="100000" sy="100000" kx="0" ky="0" algn="bl" rotWithShape="0" blurRad="101600" dist="25400" dir="8100000">
              <a:srgbClr val="000000">
                <a:alpha val="12000"/>
              </a:srgbClr>
            </a:outerShdw>
          </a:effectLst>
        </p:spPr>
      </p:sp>
      <p:sp>
        <p:nvSpPr>
          <p:cNvPr id="6" name="Shape 4"/>
          <p:cNvSpPr/>
          <p:nvPr/>
        </p:nvSpPr>
        <p:spPr>
          <a:xfrm>
            <a:off x="1188720" y="2011680"/>
            <a:ext cx="640080" cy="640080"/>
          </a:xfrm>
          <a:prstGeom prst="ellipse">
            <a:avLst/>
          </a:prstGeom>
          <a:solidFill>
            <a:srgbClr val="E2483D"/>
          </a:solidFill>
          <a:ln/>
        </p:spPr>
      </p:sp>
      <p:sp>
        <p:nvSpPr>
          <p:cNvPr id="7" name="Text 5"/>
          <p:cNvSpPr/>
          <p:nvPr/>
        </p:nvSpPr>
        <p:spPr>
          <a:xfrm>
            <a:off x="1188720" y="201168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1</a:t>
            </a:r>
            <a:endParaRPr lang="en-US" sz="2400" dirty="0"/>
          </a:p>
        </p:txBody>
      </p:sp>
      <p:sp>
        <p:nvSpPr>
          <p:cNvPr id="8" name="Text 6"/>
          <p:cNvSpPr/>
          <p:nvPr/>
        </p:nvSpPr>
        <p:spPr>
          <a:xfrm>
            <a:off x="1188720" y="2788920"/>
            <a:ext cx="2743200" cy="457200"/>
          </a:xfrm>
          <a:prstGeom prst="rect">
            <a:avLst/>
          </a:prstGeom>
          <a:noFill/>
          <a:ln/>
        </p:spPr>
        <p:txBody>
          <a:bodyPr wrap="square" lIns="0" tIns="0" rIns="0" bIns="0" rtlCol="0" anchor="ctr"/>
          <a:lstStyle/>
          <a:p>
            <a:pPr indent="0" marL="0">
              <a:buNone/>
            </a:pPr>
            <a:r>
              <a:rPr lang="en-US" sz="2000" b="1" dirty="0">
                <a:solidFill>
                  <a:srgbClr val="2D2D2D"/>
                </a:solidFill>
                <a:latin typeface="Meiryo" pitchFamily="34" charset="0"/>
                <a:ea typeface="Meiryo" pitchFamily="34" charset="-122"/>
                <a:cs typeface="Meiryo" pitchFamily="34" charset="-120"/>
              </a:rPr>
              <a:t>測る</a:t>
            </a:r>
            <a:endParaRPr lang="en-US" sz="2000" dirty="0"/>
          </a:p>
        </p:txBody>
      </p:sp>
      <p:sp>
        <p:nvSpPr>
          <p:cNvPr id="9" name="Text 7"/>
          <p:cNvSpPr/>
          <p:nvPr/>
        </p:nvSpPr>
        <p:spPr>
          <a:xfrm>
            <a:off x="1207008" y="3291840"/>
            <a:ext cx="2834640" cy="1005840"/>
          </a:xfrm>
          <a:prstGeom prst="rect">
            <a:avLst/>
          </a:prstGeom>
          <a:noFill/>
          <a:ln/>
        </p:spPr>
        <p:txBody>
          <a:bodyPr wrap="square" lIns="0" tIns="0" rIns="0" bIns="0" rtlCol="0" anchor="ctr"/>
          <a:lstStyle/>
          <a:p>
            <a:pPr indent="0" marL="0">
              <a:lnSpc>
                <a:spcPct val="105000"/>
              </a:lnSpc>
              <a:buNone/>
            </a:pPr>
            <a:r>
              <a:rPr lang="en-US" sz="1300" dirty="0">
                <a:solidFill>
                  <a:srgbClr val="70757A"/>
                </a:solidFill>
                <a:latin typeface="Meiryo" pitchFamily="34" charset="0"/>
                <a:ea typeface="Meiryo" pitchFamily="34" charset="-122"/>
                <a:cs typeface="Meiryo" pitchFamily="34" charset="-120"/>
              </a:rPr>
              <a:t>ESP32 と静電容量式</a:t>
            </a:r>
            <a:endParaRPr lang="en-US" sz="1300" dirty="0"/>
          </a:p>
          <a:p>
            <a:pPr indent="0" marL="0">
              <a:lnSpc>
                <a:spcPct val="105000"/>
              </a:lnSpc>
              <a:buNone/>
            </a:pPr>
            <a:r>
              <a:rPr lang="en-US" sz="1300" dirty="0">
                <a:solidFill>
                  <a:srgbClr val="70757A"/>
                </a:solidFill>
                <a:latin typeface="Meiryo" pitchFamily="34" charset="0"/>
                <a:ea typeface="Meiryo" pitchFamily="34" charset="-122"/>
                <a:cs typeface="Meiryo" pitchFamily="34" charset="-120"/>
              </a:rPr>
              <a:t>センサー3本で土壌水分を計測</a:t>
            </a:r>
            <a:endParaRPr lang="en-US" sz="1300" dirty="0"/>
          </a:p>
        </p:txBody>
      </p:sp>
      <p:sp>
        <p:nvSpPr>
          <p:cNvPr id="10" name="Shape 8"/>
          <p:cNvSpPr/>
          <p:nvPr/>
        </p:nvSpPr>
        <p:spPr>
          <a:xfrm>
            <a:off x="4453128" y="1691640"/>
            <a:ext cx="3383280" cy="2743200"/>
          </a:xfrm>
          <a:prstGeom prst="roundRect">
            <a:avLst>
              <a:gd name="adj" fmla="val 3333"/>
            </a:avLst>
          </a:prstGeom>
          <a:solidFill>
            <a:srgbClr val="F4F6F6"/>
          </a:solidFill>
          <a:ln/>
          <a:effectLst>
            <a:outerShdw sx="100000" sy="100000" kx="0" ky="0" algn="bl" rotWithShape="0" blurRad="101600" dist="25400" dir="8100000">
              <a:srgbClr val="000000">
                <a:alpha val="12000"/>
              </a:srgbClr>
            </a:outerShdw>
          </a:effectLst>
        </p:spPr>
      </p:sp>
      <p:sp>
        <p:nvSpPr>
          <p:cNvPr id="11" name="Shape 9"/>
          <p:cNvSpPr/>
          <p:nvPr/>
        </p:nvSpPr>
        <p:spPr>
          <a:xfrm>
            <a:off x="4773168" y="2011680"/>
            <a:ext cx="640080" cy="640080"/>
          </a:xfrm>
          <a:prstGeom prst="ellipse">
            <a:avLst/>
          </a:prstGeom>
          <a:solidFill>
            <a:srgbClr val="2FA15A"/>
          </a:solidFill>
          <a:ln/>
        </p:spPr>
      </p:sp>
      <p:sp>
        <p:nvSpPr>
          <p:cNvPr id="12" name="Text 10"/>
          <p:cNvSpPr/>
          <p:nvPr/>
        </p:nvSpPr>
        <p:spPr>
          <a:xfrm>
            <a:off x="4773168" y="201168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2</a:t>
            </a:r>
            <a:endParaRPr lang="en-US" sz="2400" dirty="0"/>
          </a:p>
        </p:txBody>
      </p:sp>
      <p:sp>
        <p:nvSpPr>
          <p:cNvPr id="13" name="Text 11"/>
          <p:cNvSpPr/>
          <p:nvPr/>
        </p:nvSpPr>
        <p:spPr>
          <a:xfrm>
            <a:off x="4773168" y="2788920"/>
            <a:ext cx="2743200" cy="457200"/>
          </a:xfrm>
          <a:prstGeom prst="rect">
            <a:avLst/>
          </a:prstGeom>
          <a:noFill/>
          <a:ln/>
        </p:spPr>
        <p:txBody>
          <a:bodyPr wrap="square" lIns="0" tIns="0" rIns="0" bIns="0" rtlCol="0" anchor="ctr"/>
          <a:lstStyle/>
          <a:p>
            <a:pPr indent="0" marL="0">
              <a:buNone/>
            </a:pPr>
            <a:r>
              <a:rPr lang="en-US" sz="2000" b="1" dirty="0">
                <a:solidFill>
                  <a:srgbClr val="2D2D2D"/>
                </a:solidFill>
                <a:latin typeface="Meiryo" pitchFamily="34" charset="0"/>
                <a:ea typeface="Meiryo" pitchFamily="34" charset="-122"/>
                <a:cs typeface="Meiryo" pitchFamily="34" charset="-120"/>
              </a:rPr>
              <a:t>ためる</a:t>
            </a:r>
            <a:endParaRPr lang="en-US" sz="2000" dirty="0"/>
          </a:p>
        </p:txBody>
      </p:sp>
      <p:sp>
        <p:nvSpPr>
          <p:cNvPr id="14" name="Text 12"/>
          <p:cNvSpPr/>
          <p:nvPr/>
        </p:nvSpPr>
        <p:spPr>
          <a:xfrm>
            <a:off x="4791456" y="3291840"/>
            <a:ext cx="2834640" cy="1005840"/>
          </a:xfrm>
          <a:prstGeom prst="rect">
            <a:avLst/>
          </a:prstGeom>
          <a:noFill/>
          <a:ln/>
        </p:spPr>
        <p:txBody>
          <a:bodyPr wrap="square" lIns="0" tIns="0" rIns="0" bIns="0" rtlCol="0" anchor="ctr"/>
          <a:lstStyle/>
          <a:p>
            <a:pPr indent="0" marL="0">
              <a:lnSpc>
                <a:spcPct val="105000"/>
              </a:lnSpc>
              <a:buNone/>
            </a:pPr>
            <a:r>
              <a:rPr lang="en-US" sz="1300" dirty="0">
                <a:solidFill>
                  <a:srgbClr val="70757A"/>
                </a:solidFill>
                <a:latin typeface="Meiryo" pitchFamily="34" charset="0"/>
                <a:ea typeface="Meiryo" pitchFamily="34" charset="-122"/>
                <a:cs typeface="Meiryo" pitchFamily="34" charset="-120"/>
              </a:rPr>
              <a:t>サーバーのDBに一元管理</a:t>
            </a:r>
            <a:endParaRPr lang="en-US" sz="1300" dirty="0"/>
          </a:p>
          <a:p>
            <a:pPr indent="0" marL="0">
              <a:lnSpc>
                <a:spcPct val="105000"/>
              </a:lnSpc>
              <a:buNone/>
            </a:pPr>
            <a:r>
              <a:rPr lang="en-US" sz="1300" dirty="0">
                <a:solidFill>
                  <a:srgbClr val="70757A"/>
                </a:solidFill>
                <a:latin typeface="Meiryo" pitchFamily="34" charset="0"/>
                <a:ea typeface="Meiryo" pitchFamily="34" charset="-122"/>
                <a:cs typeface="Meiryo" pitchFamily="34" charset="-120"/>
              </a:rPr>
              <a:t>(水分・天気・水やり・収穫・糖度)</a:t>
            </a:r>
            <a:endParaRPr lang="en-US" sz="1300" dirty="0"/>
          </a:p>
        </p:txBody>
      </p:sp>
      <p:sp>
        <p:nvSpPr>
          <p:cNvPr id="15" name="Shape 13"/>
          <p:cNvSpPr/>
          <p:nvPr/>
        </p:nvSpPr>
        <p:spPr>
          <a:xfrm>
            <a:off x="8037576" y="1691640"/>
            <a:ext cx="3383280" cy="2743200"/>
          </a:xfrm>
          <a:prstGeom prst="roundRect">
            <a:avLst>
              <a:gd name="adj" fmla="val 3333"/>
            </a:avLst>
          </a:prstGeom>
          <a:solidFill>
            <a:srgbClr val="F4F6F6"/>
          </a:solidFill>
          <a:ln/>
          <a:effectLst>
            <a:outerShdw sx="100000" sy="100000" kx="0" ky="0" algn="bl" rotWithShape="0" blurRad="101600" dist="25400" dir="8100000">
              <a:srgbClr val="000000">
                <a:alpha val="12000"/>
              </a:srgbClr>
            </a:outerShdw>
          </a:effectLst>
        </p:spPr>
      </p:sp>
      <p:sp>
        <p:nvSpPr>
          <p:cNvPr id="16" name="Shape 14"/>
          <p:cNvSpPr/>
          <p:nvPr/>
        </p:nvSpPr>
        <p:spPr>
          <a:xfrm>
            <a:off x="8357616" y="2011680"/>
            <a:ext cx="640080" cy="640080"/>
          </a:xfrm>
          <a:prstGeom prst="ellipse">
            <a:avLst/>
          </a:prstGeom>
          <a:solidFill>
            <a:srgbClr val="2F7DD1"/>
          </a:solidFill>
          <a:ln/>
        </p:spPr>
      </p:sp>
      <p:sp>
        <p:nvSpPr>
          <p:cNvPr id="17" name="Text 15"/>
          <p:cNvSpPr/>
          <p:nvPr/>
        </p:nvSpPr>
        <p:spPr>
          <a:xfrm>
            <a:off x="8357616" y="201168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3</a:t>
            </a:r>
            <a:endParaRPr lang="en-US" sz="2400" dirty="0"/>
          </a:p>
        </p:txBody>
      </p:sp>
      <p:sp>
        <p:nvSpPr>
          <p:cNvPr id="18" name="Text 16"/>
          <p:cNvSpPr/>
          <p:nvPr/>
        </p:nvSpPr>
        <p:spPr>
          <a:xfrm>
            <a:off x="8357616" y="2788920"/>
            <a:ext cx="2743200" cy="457200"/>
          </a:xfrm>
          <a:prstGeom prst="rect">
            <a:avLst/>
          </a:prstGeom>
          <a:noFill/>
          <a:ln/>
        </p:spPr>
        <p:txBody>
          <a:bodyPr wrap="square" lIns="0" tIns="0" rIns="0" bIns="0" rtlCol="0" anchor="ctr"/>
          <a:lstStyle/>
          <a:p>
            <a:pPr indent="0" marL="0">
              <a:buNone/>
            </a:pPr>
            <a:r>
              <a:rPr lang="en-US" sz="2000" b="1" dirty="0">
                <a:solidFill>
                  <a:srgbClr val="2D2D2D"/>
                </a:solidFill>
                <a:latin typeface="Meiryo" pitchFamily="34" charset="0"/>
                <a:ea typeface="Meiryo" pitchFamily="34" charset="-122"/>
                <a:cs typeface="Meiryo" pitchFamily="34" charset="-120"/>
              </a:rPr>
              <a:t>見せる</a:t>
            </a:r>
            <a:endParaRPr lang="en-US" sz="2000" dirty="0"/>
          </a:p>
        </p:txBody>
      </p:sp>
      <p:sp>
        <p:nvSpPr>
          <p:cNvPr id="19" name="Text 17"/>
          <p:cNvSpPr/>
          <p:nvPr/>
        </p:nvSpPr>
        <p:spPr>
          <a:xfrm>
            <a:off x="8375904" y="3291840"/>
            <a:ext cx="2834640" cy="1005840"/>
          </a:xfrm>
          <a:prstGeom prst="rect">
            <a:avLst/>
          </a:prstGeom>
          <a:noFill/>
          <a:ln/>
        </p:spPr>
        <p:txBody>
          <a:bodyPr wrap="square" lIns="0" tIns="0" rIns="0" bIns="0" rtlCol="0" anchor="ctr"/>
          <a:lstStyle/>
          <a:p>
            <a:pPr indent="0" marL="0">
              <a:lnSpc>
                <a:spcPct val="105000"/>
              </a:lnSpc>
              <a:buNone/>
            </a:pPr>
            <a:r>
              <a:rPr lang="en-US" sz="1300" dirty="0">
                <a:solidFill>
                  <a:srgbClr val="70757A"/>
                </a:solidFill>
                <a:latin typeface="Meiryo" pitchFamily="34" charset="0"/>
                <a:ea typeface="Meiryo" pitchFamily="34" charset="-122"/>
                <a:cs typeface="Meiryo" pitchFamily="34" charset="-120"/>
              </a:rPr>
              <a:t>ブラウザのダッシュボードで</a:t>
            </a:r>
            <a:endParaRPr lang="en-US" sz="1300" dirty="0"/>
          </a:p>
          <a:p>
            <a:pPr indent="0" marL="0">
              <a:lnSpc>
                <a:spcPct val="105000"/>
              </a:lnSpc>
              <a:buNone/>
            </a:pPr>
            <a:r>
              <a:rPr lang="en-US" sz="1300" dirty="0">
                <a:solidFill>
                  <a:srgbClr val="70757A"/>
                </a:solidFill>
                <a:latin typeface="Meiryo" pitchFamily="34" charset="0"/>
                <a:ea typeface="Meiryo" pitchFamily="34" charset="-122"/>
                <a:cs typeface="Meiryo" pitchFamily="34" charset="-120"/>
              </a:rPr>
              <a:t>グラフ・数値として可視化</a:t>
            </a:r>
            <a:endParaRPr lang="en-US" sz="1300" dirty="0"/>
          </a:p>
        </p:txBody>
      </p:sp>
      <p:sp>
        <p:nvSpPr>
          <p:cNvPr id="20" name="Shape 18"/>
          <p:cNvSpPr/>
          <p:nvPr/>
        </p:nvSpPr>
        <p:spPr>
          <a:xfrm>
            <a:off x="868680" y="4754880"/>
            <a:ext cx="10469880" cy="868680"/>
          </a:xfrm>
          <a:prstGeom prst="roundRect">
            <a:avLst>
              <a:gd name="adj" fmla="val 8421"/>
            </a:avLst>
          </a:prstGeom>
          <a:solidFill>
            <a:srgbClr val="FCEEEC"/>
          </a:solidFill>
          <a:ln/>
        </p:spPr>
      </p:sp>
      <p:sp>
        <p:nvSpPr>
          <p:cNvPr id="21" name="Text 19"/>
          <p:cNvSpPr/>
          <p:nvPr/>
        </p:nvSpPr>
        <p:spPr>
          <a:xfrm>
            <a:off x="1143000" y="4754880"/>
            <a:ext cx="9966960" cy="868680"/>
          </a:xfrm>
          <a:prstGeom prst="rect">
            <a:avLst/>
          </a:prstGeom>
          <a:noFill/>
          <a:ln/>
        </p:spPr>
        <p:txBody>
          <a:bodyPr wrap="square" lIns="0" tIns="0" rIns="0" bIns="0" rtlCol="0" anchor="ctr"/>
          <a:lstStyle/>
          <a:p>
            <a:pPr indent="0" marL="0">
              <a:buNone/>
            </a:pPr>
            <a:r>
              <a:rPr lang="en-US" sz="1400" b="1" dirty="0">
                <a:solidFill>
                  <a:srgbClr val="E2483D"/>
                </a:solidFill>
                <a:latin typeface="Meiryo" pitchFamily="34" charset="0"/>
                <a:ea typeface="Meiryo" pitchFamily="34" charset="-122"/>
                <a:cs typeface="Meiryo" pitchFamily="34" charset="-120"/>
              </a:rPr>
              <a:t>工夫： </a:t>
            </a:r>
            <a:pPr indent="0" marL="0">
              <a:buNone/>
            </a:pPr>
            <a:r>
              <a:rPr lang="en-US" sz="1400" dirty="0">
                <a:solidFill>
                  <a:srgbClr val="2D2D2D"/>
                </a:solidFill>
                <a:latin typeface="Meiryo" pitchFamily="34" charset="0"/>
                <a:ea typeface="Meiryo" pitchFamily="34" charset="-122"/>
                <a:cs typeface="Meiryo" pitchFamily="34" charset="-120"/>
              </a:rPr>
              <a:t>1株を3本のセンサーで測り、その平均をその株の値として精度を高めた</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182880" cy="384048"/>
          </a:xfrm>
          <a:prstGeom prst="rect">
            <a:avLst/>
          </a:prstGeom>
          <a:solidFill>
            <a:srgbClr val="E2483D"/>
          </a:solidFill>
          <a:ln/>
        </p:spPr>
      </p:sp>
      <p:sp>
        <p:nvSpPr>
          <p:cNvPr id="3" name="Text 1"/>
          <p:cNvSpPr/>
          <p:nvPr/>
        </p:nvSpPr>
        <p:spPr>
          <a:xfrm>
            <a:off x="868680" y="393192"/>
            <a:ext cx="10607040" cy="640080"/>
          </a:xfrm>
          <a:prstGeom prst="rect">
            <a:avLst/>
          </a:prstGeom>
          <a:noFill/>
          <a:ln/>
        </p:spPr>
        <p:txBody>
          <a:bodyPr wrap="square" lIns="0" tIns="0" rIns="0" bIns="0" rtlCol="0" anchor="ctr"/>
          <a:lstStyle/>
          <a:p>
            <a:pPr indent="0" marL="0">
              <a:buNone/>
            </a:pPr>
            <a:r>
              <a:rPr lang="en-US" sz="2900" b="1" dirty="0">
                <a:solidFill>
                  <a:srgbClr val="2D2D2D"/>
                </a:solidFill>
                <a:latin typeface="Meiryo" pitchFamily="34" charset="0"/>
                <a:ea typeface="Meiryo" pitchFamily="34" charset="-122"/>
                <a:cs typeface="Meiryo" pitchFamily="34" charset="-120"/>
              </a:rPr>
              <a:t>ハードウェア構成</a:t>
            </a:r>
            <a:endParaRPr lang="en-US" sz="2900" dirty="0"/>
          </a:p>
        </p:txBody>
      </p:sp>
      <p:sp>
        <p:nvSpPr>
          <p:cNvPr id="4" name="Text 2"/>
          <p:cNvSpPr/>
          <p:nvPr/>
        </p:nvSpPr>
        <p:spPr>
          <a:xfrm>
            <a:off x="886968" y="1024128"/>
            <a:ext cx="10607040" cy="365760"/>
          </a:xfrm>
          <a:prstGeom prst="rect">
            <a:avLst/>
          </a:prstGeom>
          <a:noFill/>
          <a:ln/>
        </p:spPr>
        <p:txBody>
          <a:bodyPr wrap="square" lIns="0" tIns="0" rIns="0" bIns="0" rtlCol="0" anchor="ctr"/>
          <a:lstStyle/>
          <a:p>
            <a:pPr indent="0" marL="0">
              <a:buNone/>
            </a:pPr>
            <a:r>
              <a:rPr lang="en-US" sz="1350" dirty="0">
                <a:solidFill>
                  <a:srgbClr val="70757A"/>
                </a:solidFill>
                <a:latin typeface="Meiryo" pitchFamily="34" charset="0"/>
                <a:ea typeface="Meiryo" pitchFamily="34" charset="-122"/>
                <a:cs typeface="Meiryo" pitchFamily="34" charset="-120"/>
              </a:rPr>
              <a:t>測る部分：ESP32 ＋ 土壌水分センサー × 3〔写真〕</a:t>
            </a:r>
            <a:endParaRPr lang="en-US" sz="1350" dirty="0"/>
          </a:p>
        </p:txBody>
      </p:sp>
      <p:sp>
        <p:nvSpPr>
          <p:cNvPr id="5" name="Text 3"/>
          <p:cNvSpPr/>
          <p:nvPr/>
        </p:nvSpPr>
        <p:spPr>
          <a:xfrm>
            <a:off x="886968" y="1920240"/>
            <a:ext cx="4023360" cy="3200400"/>
          </a:xfrm>
          <a:prstGeom prst="rect">
            <a:avLst/>
          </a:prstGeom>
          <a:noFill/>
          <a:ln/>
        </p:spPr>
        <p:txBody>
          <a:bodyPr wrap="square" lIns="0" tIns="0" rIns="0" bIns="0" rtlCol="0" anchor="ctr"/>
          <a:lstStyle/>
          <a:p>
            <a:pPr indent="0" marL="0">
              <a:lnSpc>
                <a:spcPct val="120000"/>
              </a:lnSpc>
              <a:spcAft>
                <a:spcPts val="600"/>
              </a:spcAft>
              <a:buNone/>
            </a:pPr>
            <a:r>
              <a:rPr lang="en-US" sz="1500" b="1" dirty="0">
                <a:solidFill>
                  <a:srgbClr val="2D2D2D"/>
                </a:solidFill>
                <a:latin typeface="Meiryo" pitchFamily="34" charset="0"/>
                <a:ea typeface="Meiryo" pitchFamily="34" charset="-122"/>
                <a:cs typeface="Meiryo" pitchFamily="34" charset="-120"/>
              </a:rPr>
              <a:t>ESP32</a:t>
            </a:r>
            <a:endParaRPr lang="en-US" sz="1500" dirty="0"/>
          </a:p>
          <a:p>
            <a:pPr indent="0" marL="0">
              <a:lnSpc>
                <a:spcPct val="120000"/>
              </a:lnSpc>
              <a:spcAft>
                <a:spcPts val="600"/>
              </a:spcAft>
              <a:buNone/>
            </a:pPr>
            <a:r>
              <a:rPr lang="en-US" sz="1500" dirty="0">
                <a:solidFill>
                  <a:srgbClr val="70757A"/>
                </a:solidFill>
                <a:latin typeface="Meiryo" pitchFamily="34" charset="0"/>
                <a:ea typeface="Meiryo" pitchFamily="34" charset="-122"/>
                <a:cs typeface="Meiryo" pitchFamily="34" charset="-120"/>
              </a:rPr>
              <a:t>WiFi 付きの小型マイコン</a:t>
            </a:r>
            <a:endParaRPr lang="en-US" sz="1500" dirty="0"/>
          </a:p>
          <a:p>
            <a:pPr indent="0" marL="0">
              <a:lnSpc>
                <a:spcPct val="120000"/>
              </a:lnSpc>
              <a:spcAft>
                <a:spcPts val="600"/>
              </a:spcAft>
              <a:buNone/>
            </a:pPr>
            <a:r>
              <a:rPr lang="en-US" sz="800" dirty="0">
                <a:solidFill>
                  <a:srgbClr val="000000"/>
                </a:solidFill>
                <a:latin typeface="Meiryo" pitchFamily="34" charset="0"/>
                <a:ea typeface="Meiryo" pitchFamily="34" charset="-122"/>
                <a:cs typeface="Meiryo" pitchFamily="34" charset="-120"/>
              </a:rPr>
              <a:t> </a:t>
            </a:r>
            <a:endParaRPr lang="en-US" sz="1500" dirty="0"/>
          </a:p>
          <a:p>
            <a:pPr indent="0" marL="0">
              <a:lnSpc>
                <a:spcPct val="120000"/>
              </a:lnSpc>
              <a:spcAft>
                <a:spcPts val="600"/>
              </a:spcAft>
              <a:buNone/>
            </a:pPr>
            <a:r>
              <a:rPr lang="en-US" sz="1500" b="1" dirty="0">
                <a:solidFill>
                  <a:srgbClr val="2D2D2D"/>
                </a:solidFill>
                <a:latin typeface="Meiryo" pitchFamily="34" charset="0"/>
                <a:ea typeface="Meiryo" pitchFamily="34" charset="-122"/>
                <a:cs typeface="Meiryo" pitchFamily="34" charset="-120"/>
              </a:rPr>
              <a:t>静電容量式 土壌水分センサー × 3</a:t>
            </a:r>
            <a:endParaRPr lang="en-US" sz="1500" dirty="0"/>
          </a:p>
          <a:p>
            <a:pPr indent="0" marL="0">
              <a:lnSpc>
                <a:spcPct val="120000"/>
              </a:lnSpc>
              <a:spcAft>
                <a:spcPts val="600"/>
              </a:spcAft>
              <a:buNone/>
            </a:pPr>
            <a:r>
              <a:rPr lang="en-US" sz="1500" dirty="0">
                <a:solidFill>
                  <a:srgbClr val="70757A"/>
                </a:solidFill>
                <a:latin typeface="Meiryo" pitchFamily="34" charset="0"/>
                <a:ea typeface="Meiryo" pitchFamily="34" charset="-122"/>
                <a:cs typeface="Meiryo" pitchFamily="34" charset="-120"/>
              </a:rPr>
              <a:t>土に挿すだけで水分を電気的に計測</a:t>
            </a:r>
            <a:endParaRPr lang="en-US" sz="1500" dirty="0"/>
          </a:p>
        </p:txBody>
      </p:sp>
      <p:sp>
        <p:nvSpPr>
          <p:cNvPr id="6" name="Shape 4"/>
          <p:cNvSpPr/>
          <p:nvPr/>
        </p:nvSpPr>
        <p:spPr>
          <a:xfrm>
            <a:off x="5303520" y="1783080"/>
            <a:ext cx="6035040" cy="4206240"/>
          </a:xfrm>
          <a:prstGeom prst="roundRect">
            <a:avLst>
              <a:gd name="adj" fmla="val 2174"/>
            </a:avLst>
          </a:prstGeom>
          <a:solidFill>
            <a:srgbClr val="F4F6F6"/>
          </a:solidFill>
          <a:ln w="19050">
            <a:solidFill>
              <a:srgbClr val="D9DEDE"/>
            </a:solidFill>
            <a:prstDash val="dash"/>
          </a:ln>
        </p:spPr>
      </p:sp>
      <p:sp>
        <p:nvSpPr>
          <p:cNvPr id="7" name="Text 5"/>
          <p:cNvSpPr/>
          <p:nvPr/>
        </p:nvSpPr>
        <p:spPr>
          <a:xfrm>
            <a:off x="5486400" y="3566160"/>
            <a:ext cx="5669280" cy="640080"/>
          </a:xfrm>
          <a:prstGeom prst="rect">
            <a:avLst/>
          </a:prstGeom>
          <a:noFill/>
          <a:ln/>
        </p:spPr>
        <p:txBody>
          <a:bodyPr wrap="square" lIns="0" tIns="0" rIns="0" bIns="0" rtlCol="0" anchor="ctr"/>
          <a:lstStyle/>
          <a:p>
            <a:pPr algn="ctr" indent="0" marL="0">
              <a:buNone/>
            </a:pPr>
            <a:r>
              <a:rPr lang="en-US" sz="1300" dirty="0">
                <a:solidFill>
                  <a:srgbClr val="70757A"/>
                </a:solidFill>
                <a:latin typeface="Meiryo" pitchFamily="34" charset="0"/>
                <a:ea typeface="Meiryo" pitchFamily="34" charset="-122"/>
                <a:cs typeface="Meiryo" pitchFamily="34" charset="-120"/>
              </a:rPr>
              <a:t>［ 実機の写真（ESP32＋センサー）をここに ］</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182880" cy="384048"/>
          </a:xfrm>
          <a:prstGeom prst="rect">
            <a:avLst/>
          </a:prstGeom>
          <a:solidFill>
            <a:srgbClr val="E2483D"/>
          </a:solidFill>
          <a:ln/>
        </p:spPr>
      </p:sp>
      <p:sp>
        <p:nvSpPr>
          <p:cNvPr id="3" name="Text 1"/>
          <p:cNvSpPr/>
          <p:nvPr/>
        </p:nvSpPr>
        <p:spPr>
          <a:xfrm>
            <a:off x="868680" y="393192"/>
            <a:ext cx="10607040" cy="640080"/>
          </a:xfrm>
          <a:prstGeom prst="rect">
            <a:avLst/>
          </a:prstGeom>
          <a:noFill/>
          <a:ln/>
        </p:spPr>
        <p:txBody>
          <a:bodyPr wrap="square" lIns="0" tIns="0" rIns="0" bIns="0" rtlCol="0" anchor="ctr"/>
          <a:lstStyle/>
          <a:p>
            <a:pPr indent="0" marL="0">
              <a:buNone/>
            </a:pPr>
            <a:r>
              <a:rPr lang="en-US" sz="2900" b="1" dirty="0">
                <a:solidFill>
                  <a:srgbClr val="2D2D2D"/>
                </a:solidFill>
                <a:latin typeface="Meiryo" pitchFamily="34" charset="0"/>
                <a:ea typeface="Meiryo" pitchFamily="34" charset="-122"/>
                <a:cs typeface="Meiryo" pitchFamily="34" charset="-120"/>
              </a:rPr>
              <a:t>配線・電池駆動</a:t>
            </a:r>
            <a:endParaRPr lang="en-US" sz="2900" dirty="0"/>
          </a:p>
        </p:txBody>
      </p:sp>
      <p:sp>
        <p:nvSpPr>
          <p:cNvPr id="4" name="Text 2"/>
          <p:cNvSpPr/>
          <p:nvPr/>
        </p:nvSpPr>
        <p:spPr>
          <a:xfrm>
            <a:off x="886968" y="1024128"/>
            <a:ext cx="10607040" cy="365760"/>
          </a:xfrm>
          <a:prstGeom prst="rect">
            <a:avLst/>
          </a:prstGeom>
          <a:noFill/>
          <a:ln/>
        </p:spPr>
        <p:txBody>
          <a:bodyPr wrap="square" lIns="0" tIns="0" rIns="0" bIns="0" rtlCol="0" anchor="ctr"/>
          <a:lstStyle/>
          <a:p>
            <a:pPr indent="0" marL="0">
              <a:buNone/>
            </a:pPr>
            <a:r>
              <a:rPr lang="en-US" sz="1350" dirty="0">
                <a:solidFill>
                  <a:srgbClr val="70757A"/>
                </a:solidFill>
                <a:latin typeface="Meiryo" pitchFamily="34" charset="0"/>
                <a:ea typeface="Meiryo" pitchFamily="34" charset="-122"/>
                <a:cs typeface="Meiryo" pitchFamily="34" charset="-120"/>
              </a:rPr>
              <a:t>省電力で、電源の無い場所でも運用〔写真〕</a:t>
            </a:r>
            <a:endParaRPr lang="en-US" sz="1350" dirty="0"/>
          </a:p>
        </p:txBody>
      </p:sp>
      <p:sp>
        <p:nvSpPr>
          <p:cNvPr id="5" name="Shape 3"/>
          <p:cNvSpPr/>
          <p:nvPr/>
        </p:nvSpPr>
        <p:spPr>
          <a:xfrm>
            <a:off x="868680" y="1783080"/>
            <a:ext cx="6035040" cy="4206240"/>
          </a:xfrm>
          <a:prstGeom prst="roundRect">
            <a:avLst>
              <a:gd name="adj" fmla="val 2174"/>
            </a:avLst>
          </a:prstGeom>
          <a:solidFill>
            <a:srgbClr val="F4F6F6"/>
          </a:solidFill>
          <a:ln w="19050">
            <a:solidFill>
              <a:srgbClr val="D9DEDE"/>
            </a:solidFill>
            <a:prstDash val="dash"/>
          </a:ln>
        </p:spPr>
      </p:sp>
      <p:sp>
        <p:nvSpPr>
          <p:cNvPr id="6" name="Text 4"/>
          <p:cNvSpPr/>
          <p:nvPr/>
        </p:nvSpPr>
        <p:spPr>
          <a:xfrm>
            <a:off x="1051560" y="3566160"/>
            <a:ext cx="5669280" cy="640080"/>
          </a:xfrm>
          <a:prstGeom prst="rect">
            <a:avLst/>
          </a:prstGeom>
          <a:noFill/>
          <a:ln/>
        </p:spPr>
        <p:txBody>
          <a:bodyPr wrap="square" lIns="0" tIns="0" rIns="0" bIns="0" rtlCol="0" anchor="ctr"/>
          <a:lstStyle/>
          <a:p>
            <a:pPr algn="ctr" indent="0" marL="0">
              <a:buNone/>
            </a:pPr>
            <a:r>
              <a:rPr lang="en-US" sz="1300" dirty="0">
                <a:solidFill>
                  <a:srgbClr val="70757A"/>
                </a:solidFill>
                <a:latin typeface="Meiryo" pitchFamily="34" charset="0"/>
                <a:ea typeface="Meiryo" pitchFamily="34" charset="-122"/>
                <a:cs typeface="Meiryo" pitchFamily="34" charset="-120"/>
              </a:rPr>
              <a:t>［ 配線・電池ボックスの写真をここに ］</a:t>
            </a:r>
            <a:endParaRPr lang="en-US" sz="1300" dirty="0"/>
          </a:p>
        </p:txBody>
      </p:sp>
      <p:sp>
        <p:nvSpPr>
          <p:cNvPr id="7" name="Text 5"/>
          <p:cNvSpPr/>
          <p:nvPr/>
        </p:nvSpPr>
        <p:spPr>
          <a:xfrm>
            <a:off x="7223760" y="2103120"/>
            <a:ext cx="4114800" cy="3200400"/>
          </a:xfrm>
          <a:prstGeom prst="rect">
            <a:avLst/>
          </a:prstGeom>
          <a:noFill/>
          <a:ln/>
        </p:spPr>
        <p:txBody>
          <a:bodyPr wrap="square" lIns="0" tIns="0" rIns="0" bIns="0" rtlCol="0" anchor="ctr"/>
          <a:lstStyle/>
          <a:p>
            <a:pPr indent="0" marL="0">
              <a:lnSpc>
                <a:spcPct val="120000"/>
              </a:lnSpc>
              <a:spcAft>
                <a:spcPts val="600"/>
              </a:spcAft>
              <a:buNone/>
            </a:pPr>
            <a:r>
              <a:rPr lang="en-US" sz="1500" b="1" dirty="0">
                <a:solidFill>
                  <a:srgbClr val="2D2D2D"/>
                </a:solidFill>
                <a:latin typeface="Meiryo" pitchFamily="34" charset="0"/>
                <a:ea typeface="Meiryo" pitchFamily="34" charset="-122"/>
                <a:cs typeface="Meiryo" pitchFamily="34" charset="-120"/>
              </a:rPr>
              <a:t>ディープスリープ</a:t>
            </a:r>
            <a:endParaRPr lang="en-US" sz="1500" dirty="0"/>
          </a:p>
          <a:p>
            <a:pPr indent="0" marL="0">
              <a:lnSpc>
                <a:spcPct val="120000"/>
              </a:lnSpc>
              <a:spcAft>
                <a:spcPts val="600"/>
              </a:spcAft>
              <a:buNone/>
            </a:pPr>
            <a:r>
              <a:rPr lang="en-US" sz="1500" dirty="0">
                <a:solidFill>
                  <a:srgbClr val="70757A"/>
                </a:solidFill>
                <a:latin typeface="Meiryo" pitchFamily="34" charset="0"/>
                <a:ea typeface="Meiryo" pitchFamily="34" charset="-122"/>
                <a:cs typeface="Meiryo" pitchFamily="34" charset="-120"/>
              </a:rPr>
              <a:t>普段は眠り、決まった時間だけ起きて測って送る</a:t>
            </a:r>
            <a:endParaRPr lang="en-US" sz="1500" dirty="0"/>
          </a:p>
          <a:p>
            <a:pPr indent="0" marL="0">
              <a:lnSpc>
                <a:spcPct val="120000"/>
              </a:lnSpc>
              <a:spcAft>
                <a:spcPts val="600"/>
              </a:spcAft>
              <a:buNone/>
            </a:pPr>
            <a:r>
              <a:rPr lang="en-US" sz="1000" dirty="0">
                <a:solidFill>
                  <a:srgbClr val="000000"/>
                </a:solidFill>
                <a:latin typeface="Meiryo" pitchFamily="34" charset="0"/>
                <a:ea typeface="Meiryo" pitchFamily="34" charset="-122"/>
                <a:cs typeface="Meiryo" pitchFamily="34" charset="-120"/>
              </a:rPr>
              <a:t> </a:t>
            </a:r>
            <a:endParaRPr lang="en-US" sz="1500" dirty="0"/>
          </a:p>
          <a:p>
            <a:pPr indent="0" marL="0">
              <a:lnSpc>
                <a:spcPct val="120000"/>
              </a:lnSpc>
              <a:spcAft>
                <a:spcPts val="600"/>
              </a:spcAft>
              <a:buNone/>
            </a:pPr>
            <a:r>
              <a:rPr lang="en-US" sz="1500" b="1" dirty="0">
                <a:solidFill>
                  <a:srgbClr val="2D2D2D"/>
                </a:solidFill>
                <a:latin typeface="Meiryo" pitchFamily="34" charset="0"/>
                <a:ea typeface="Meiryo" pitchFamily="34" charset="-122"/>
                <a:cs typeface="Meiryo" pitchFamily="34" charset="-120"/>
              </a:rPr>
              <a:t>電池駆動</a:t>
            </a:r>
            <a:endParaRPr lang="en-US" sz="1500" dirty="0"/>
          </a:p>
          <a:p>
            <a:pPr indent="0" marL="0">
              <a:lnSpc>
                <a:spcPct val="120000"/>
              </a:lnSpc>
              <a:spcAft>
                <a:spcPts val="600"/>
              </a:spcAft>
              <a:buNone/>
            </a:pPr>
            <a:r>
              <a:rPr lang="en-US" sz="1500" dirty="0">
                <a:solidFill>
                  <a:srgbClr val="70757A"/>
                </a:solidFill>
                <a:latin typeface="Meiryo" pitchFamily="34" charset="0"/>
                <a:ea typeface="Meiryo" pitchFamily="34" charset="-122"/>
                <a:cs typeface="Meiryo" pitchFamily="34" charset="-120"/>
              </a:rPr>
              <a:t>コンセントの無いベランダ等でも運用できる</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182880" cy="384048"/>
          </a:xfrm>
          <a:prstGeom prst="rect">
            <a:avLst/>
          </a:prstGeom>
          <a:solidFill>
            <a:srgbClr val="E2483D"/>
          </a:solidFill>
          <a:ln/>
        </p:spPr>
      </p:sp>
      <p:sp>
        <p:nvSpPr>
          <p:cNvPr id="3" name="Text 1"/>
          <p:cNvSpPr/>
          <p:nvPr/>
        </p:nvSpPr>
        <p:spPr>
          <a:xfrm>
            <a:off x="868680" y="393192"/>
            <a:ext cx="10607040" cy="640080"/>
          </a:xfrm>
          <a:prstGeom prst="rect">
            <a:avLst/>
          </a:prstGeom>
          <a:noFill/>
          <a:ln/>
        </p:spPr>
        <p:txBody>
          <a:bodyPr wrap="square" lIns="0" tIns="0" rIns="0" bIns="0" rtlCol="0" anchor="ctr"/>
          <a:lstStyle/>
          <a:p>
            <a:pPr indent="0" marL="0">
              <a:buNone/>
            </a:pPr>
            <a:r>
              <a:rPr lang="en-US" sz="2900" b="1" dirty="0">
                <a:solidFill>
                  <a:srgbClr val="2D2D2D"/>
                </a:solidFill>
                <a:latin typeface="Meiryo" pitchFamily="34" charset="0"/>
                <a:ea typeface="Meiryo" pitchFamily="34" charset="-122"/>
                <a:cs typeface="Meiryo" pitchFamily="34" charset="-120"/>
              </a:rPr>
              <a:t>使った技術</a:t>
            </a:r>
            <a:endParaRPr lang="en-US" sz="2900" dirty="0"/>
          </a:p>
        </p:txBody>
      </p:sp>
      <p:sp>
        <p:nvSpPr>
          <p:cNvPr id="4" name="Text 2"/>
          <p:cNvSpPr/>
          <p:nvPr/>
        </p:nvSpPr>
        <p:spPr>
          <a:xfrm>
            <a:off x="886968" y="1024128"/>
            <a:ext cx="10607040" cy="365760"/>
          </a:xfrm>
          <a:prstGeom prst="rect">
            <a:avLst/>
          </a:prstGeom>
          <a:noFill/>
          <a:ln/>
        </p:spPr>
        <p:txBody>
          <a:bodyPr wrap="square" lIns="0" tIns="0" rIns="0" bIns="0" rtlCol="0" anchor="ctr"/>
          <a:lstStyle/>
          <a:p>
            <a:pPr indent="0" marL="0">
              <a:buNone/>
            </a:pPr>
            <a:r>
              <a:rPr lang="en-US" sz="1350" dirty="0">
                <a:solidFill>
                  <a:srgbClr val="70757A"/>
                </a:solidFill>
                <a:latin typeface="Meiryo" pitchFamily="34" charset="0"/>
                <a:ea typeface="Meiryo" pitchFamily="34" charset="-122"/>
                <a:cs typeface="Meiryo" pitchFamily="34" charset="-120"/>
              </a:rPr>
              <a:t>組み込み・サーバー・フロントの3領域を一つに</a:t>
            </a:r>
            <a:endParaRPr lang="en-US" sz="1350" dirty="0"/>
          </a:p>
        </p:txBody>
      </p:sp>
      <p:sp>
        <p:nvSpPr>
          <p:cNvPr id="5" name="Shape 3"/>
          <p:cNvSpPr/>
          <p:nvPr/>
        </p:nvSpPr>
        <p:spPr>
          <a:xfrm>
            <a:off x="868680" y="1828800"/>
            <a:ext cx="5029200" cy="1600200"/>
          </a:xfrm>
          <a:prstGeom prst="roundRect">
            <a:avLst>
              <a:gd name="adj" fmla="val 5714"/>
            </a:avLst>
          </a:prstGeom>
          <a:solidFill>
            <a:srgbClr val="F4F6F6"/>
          </a:solidFill>
          <a:ln/>
          <a:effectLst>
            <a:outerShdw sx="100000" sy="100000" kx="0" ky="0" algn="bl" rotWithShape="0" blurRad="101600" dist="25400" dir="8100000">
              <a:srgbClr val="000000">
                <a:alpha val="12000"/>
              </a:srgbClr>
            </a:outerShdw>
          </a:effectLst>
        </p:spPr>
      </p:sp>
      <p:sp>
        <p:nvSpPr>
          <p:cNvPr id="6" name="Shape 4"/>
          <p:cNvSpPr/>
          <p:nvPr/>
        </p:nvSpPr>
        <p:spPr>
          <a:xfrm>
            <a:off x="868680" y="1828800"/>
            <a:ext cx="146304" cy="1600200"/>
          </a:xfrm>
          <a:prstGeom prst="rect">
            <a:avLst/>
          </a:prstGeom>
          <a:solidFill>
            <a:srgbClr val="E2483D"/>
          </a:solidFill>
          <a:ln/>
        </p:spPr>
      </p:sp>
      <p:sp>
        <p:nvSpPr>
          <p:cNvPr id="7" name="Text 5"/>
          <p:cNvSpPr/>
          <p:nvPr/>
        </p:nvSpPr>
        <p:spPr>
          <a:xfrm>
            <a:off x="1234440" y="2103120"/>
            <a:ext cx="4572000" cy="457200"/>
          </a:xfrm>
          <a:prstGeom prst="rect">
            <a:avLst/>
          </a:prstGeom>
          <a:noFill/>
          <a:ln/>
        </p:spPr>
        <p:txBody>
          <a:bodyPr wrap="square" lIns="0" tIns="0" rIns="0" bIns="0" rtlCol="0" anchor="ctr"/>
          <a:lstStyle/>
          <a:p>
            <a:pPr indent="0" marL="0">
              <a:buNone/>
            </a:pPr>
            <a:r>
              <a:rPr lang="en-US" sz="1800" b="1" dirty="0">
                <a:solidFill>
                  <a:srgbClr val="2D2D2D"/>
                </a:solidFill>
                <a:latin typeface="Meiryo" pitchFamily="34" charset="0"/>
                <a:ea typeface="Meiryo" pitchFamily="34" charset="-122"/>
                <a:cs typeface="Meiryo" pitchFamily="34" charset="-120"/>
              </a:rPr>
              <a:t>マイコン</a:t>
            </a:r>
            <a:endParaRPr lang="en-US" sz="1800" dirty="0"/>
          </a:p>
        </p:txBody>
      </p:sp>
      <p:sp>
        <p:nvSpPr>
          <p:cNvPr id="8" name="Text 6"/>
          <p:cNvSpPr/>
          <p:nvPr/>
        </p:nvSpPr>
        <p:spPr>
          <a:xfrm>
            <a:off x="1234440" y="2606040"/>
            <a:ext cx="4572000" cy="640080"/>
          </a:xfrm>
          <a:prstGeom prst="rect">
            <a:avLst/>
          </a:prstGeom>
          <a:noFill/>
          <a:ln/>
        </p:spPr>
        <p:txBody>
          <a:bodyPr wrap="square" lIns="0" tIns="0" rIns="0" bIns="0" rtlCol="0" anchor="ctr"/>
          <a:lstStyle/>
          <a:p>
            <a:pPr indent="0" marL="0">
              <a:buNone/>
            </a:pPr>
            <a:r>
              <a:rPr lang="en-US" sz="1400" dirty="0">
                <a:solidFill>
                  <a:srgbClr val="70757A"/>
                </a:solidFill>
                <a:latin typeface="Meiryo" pitchFamily="34" charset="0"/>
                <a:ea typeface="Meiryo" pitchFamily="34" charset="-122"/>
                <a:cs typeface="Meiryo" pitchFamily="34" charset="-120"/>
              </a:rPr>
              <a:t>ESP32 ＋ Arduino (C++)</a:t>
            </a:r>
            <a:endParaRPr lang="en-US" sz="1400" dirty="0"/>
          </a:p>
        </p:txBody>
      </p:sp>
      <p:sp>
        <p:nvSpPr>
          <p:cNvPr id="9" name="Shape 7"/>
          <p:cNvSpPr/>
          <p:nvPr/>
        </p:nvSpPr>
        <p:spPr>
          <a:xfrm>
            <a:off x="6309360" y="1828800"/>
            <a:ext cx="5029200" cy="1600200"/>
          </a:xfrm>
          <a:prstGeom prst="roundRect">
            <a:avLst>
              <a:gd name="adj" fmla="val 5714"/>
            </a:avLst>
          </a:prstGeom>
          <a:solidFill>
            <a:srgbClr val="F4F6F6"/>
          </a:solidFill>
          <a:ln/>
          <a:effectLst>
            <a:outerShdw sx="100000" sy="100000" kx="0" ky="0" algn="bl" rotWithShape="0" blurRad="101600" dist="25400" dir="8100000">
              <a:srgbClr val="000000">
                <a:alpha val="12000"/>
              </a:srgbClr>
            </a:outerShdw>
          </a:effectLst>
        </p:spPr>
      </p:sp>
      <p:sp>
        <p:nvSpPr>
          <p:cNvPr id="10" name="Shape 8"/>
          <p:cNvSpPr/>
          <p:nvPr/>
        </p:nvSpPr>
        <p:spPr>
          <a:xfrm>
            <a:off x="6309360" y="1828800"/>
            <a:ext cx="146304" cy="1600200"/>
          </a:xfrm>
          <a:prstGeom prst="rect">
            <a:avLst/>
          </a:prstGeom>
          <a:solidFill>
            <a:srgbClr val="2FA15A"/>
          </a:solidFill>
          <a:ln/>
        </p:spPr>
      </p:sp>
      <p:sp>
        <p:nvSpPr>
          <p:cNvPr id="11" name="Text 9"/>
          <p:cNvSpPr/>
          <p:nvPr/>
        </p:nvSpPr>
        <p:spPr>
          <a:xfrm>
            <a:off x="6675120" y="2103120"/>
            <a:ext cx="4572000" cy="457200"/>
          </a:xfrm>
          <a:prstGeom prst="rect">
            <a:avLst/>
          </a:prstGeom>
          <a:noFill/>
          <a:ln/>
        </p:spPr>
        <p:txBody>
          <a:bodyPr wrap="square" lIns="0" tIns="0" rIns="0" bIns="0" rtlCol="0" anchor="ctr"/>
          <a:lstStyle/>
          <a:p>
            <a:pPr indent="0" marL="0">
              <a:buNone/>
            </a:pPr>
            <a:r>
              <a:rPr lang="en-US" sz="1800" b="1" dirty="0">
                <a:solidFill>
                  <a:srgbClr val="2D2D2D"/>
                </a:solidFill>
                <a:latin typeface="Meiryo" pitchFamily="34" charset="0"/>
                <a:ea typeface="Meiryo" pitchFamily="34" charset="-122"/>
                <a:cs typeface="Meiryo" pitchFamily="34" charset="-120"/>
              </a:rPr>
              <a:t>サーバー</a:t>
            </a:r>
            <a:endParaRPr lang="en-US" sz="1800" dirty="0"/>
          </a:p>
        </p:txBody>
      </p:sp>
      <p:sp>
        <p:nvSpPr>
          <p:cNvPr id="12" name="Text 10"/>
          <p:cNvSpPr/>
          <p:nvPr/>
        </p:nvSpPr>
        <p:spPr>
          <a:xfrm>
            <a:off x="6675120" y="2606040"/>
            <a:ext cx="4572000" cy="640080"/>
          </a:xfrm>
          <a:prstGeom prst="rect">
            <a:avLst/>
          </a:prstGeom>
          <a:noFill/>
          <a:ln/>
        </p:spPr>
        <p:txBody>
          <a:bodyPr wrap="square" lIns="0" tIns="0" rIns="0" bIns="0" rtlCol="0" anchor="ctr"/>
          <a:lstStyle/>
          <a:p>
            <a:pPr indent="0" marL="0">
              <a:buNone/>
            </a:pPr>
            <a:r>
              <a:rPr lang="en-US" sz="1400" dirty="0">
                <a:solidFill>
                  <a:srgbClr val="70757A"/>
                </a:solidFill>
                <a:latin typeface="Meiryo" pitchFamily="34" charset="0"/>
                <a:ea typeface="Meiryo" pitchFamily="34" charset="-122"/>
                <a:cs typeface="Meiryo" pitchFamily="34" charset="-120"/>
              </a:rPr>
              <a:t>Python ＋ FastAPI、PostgreSQL、Docker</a:t>
            </a:r>
            <a:endParaRPr lang="en-US" sz="1400" dirty="0"/>
          </a:p>
        </p:txBody>
      </p:sp>
      <p:sp>
        <p:nvSpPr>
          <p:cNvPr id="13" name="Shape 11"/>
          <p:cNvSpPr/>
          <p:nvPr/>
        </p:nvSpPr>
        <p:spPr>
          <a:xfrm>
            <a:off x="868680" y="3703320"/>
            <a:ext cx="5029200" cy="1600200"/>
          </a:xfrm>
          <a:prstGeom prst="roundRect">
            <a:avLst>
              <a:gd name="adj" fmla="val 5714"/>
            </a:avLst>
          </a:prstGeom>
          <a:solidFill>
            <a:srgbClr val="F4F6F6"/>
          </a:solidFill>
          <a:ln/>
          <a:effectLst>
            <a:outerShdw sx="100000" sy="100000" kx="0" ky="0" algn="bl" rotWithShape="0" blurRad="101600" dist="25400" dir="8100000">
              <a:srgbClr val="000000">
                <a:alpha val="12000"/>
              </a:srgbClr>
            </a:outerShdw>
          </a:effectLst>
        </p:spPr>
      </p:sp>
      <p:sp>
        <p:nvSpPr>
          <p:cNvPr id="14" name="Shape 12"/>
          <p:cNvSpPr/>
          <p:nvPr/>
        </p:nvSpPr>
        <p:spPr>
          <a:xfrm>
            <a:off x="868680" y="3703320"/>
            <a:ext cx="146304" cy="1600200"/>
          </a:xfrm>
          <a:prstGeom prst="rect">
            <a:avLst/>
          </a:prstGeom>
          <a:solidFill>
            <a:srgbClr val="2F7DD1"/>
          </a:solidFill>
          <a:ln/>
        </p:spPr>
      </p:sp>
      <p:sp>
        <p:nvSpPr>
          <p:cNvPr id="15" name="Text 13"/>
          <p:cNvSpPr/>
          <p:nvPr/>
        </p:nvSpPr>
        <p:spPr>
          <a:xfrm>
            <a:off x="1234440" y="3977640"/>
            <a:ext cx="4572000" cy="457200"/>
          </a:xfrm>
          <a:prstGeom prst="rect">
            <a:avLst/>
          </a:prstGeom>
          <a:noFill/>
          <a:ln/>
        </p:spPr>
        <p:txBody>
          <a:bodyPr wrap="square" lIns="0" tIns="0" rIns="0" bIns="0" rtlCol="0" anchor="ctr"/>
          <a:lstStyle/>
          <a:p>
            <a:pPr indent="0" marL="0">
              <a:buNone/>
            </a:pPr>
            <a:r>
              <a:rPr lang="en-US" sz="1800" b="1" dirty="0">
                <a:solidFill>
                  <a:srgbClr val="2D2D2D"/>
                </a:solidFill>
                <a:latin typeface="Meiryo" pitchFamily="34" charset="0"/>
                <a:ea typeface="Meiryo" pitchFamily="34" charset="-122"/>
                <a:cs typeface="Meiryo" pitchFamily="34" charset="-120"/>
              </a:rPr>
              <a:t>フロント</a:t>
            </a:r>
            <a:endParaRPr lang="en-US" sz="1800" dirty="0"/>
          </a:p>
        </p:txBody>
      </p:sp>
      <p:sp>
        <p:nvSpPr>
          <p:cNvPr id="16" name="Text 14"/>
          <p:cNvSpPr/>
          <p:nvPr/>
        </p:nvSpPr>
        <p:spPr>
          <a:xfrm>
            <a:off x="1234440" y="4480560"/>
            <a:ext cx="4572000" cy="640080"/>
          </a:xfrm>
          <a:prstGeom prst="rect">
            <a:avLst/>
          </a:prstGeom>
          <a:noFill/>
          <a:ln/>
        </p:spPr>
        <p:txBody>
          <a:bodyPr wrap="square" lIns="0" tIns="0" rIns="0" bIns="0" rtlCol="0" anchor="ctr"/>
          <a:lstStyle/>
          <a:p>
            <a:pPr indent="0" marL="0">
              <a:buNone/>
            </a:pPr>
            <a:r>
              <a:rPr lang="en-US" sz="1400" dirty="0">
                <a:solidFill>
                  <a:srgbClr val="70757A"/>
                </a:solidFill>
                <a:latin typeface="Meiryo" pitchFamily="34" charset="0"/>
                <a:ea typeface="Meiryo" pitchFamily="34" charset="-122"/>
                <a:cs typeface="Meiryo" pitchFamily="34" charset="-120"/>
              </a:rPr>
              <a:t>React ＋ Vite、Chart.js</a:t>
            </a:r>
            <a:endParaRPr lang="en-US" sz="1400" dirty="0"/>
          </a:p>
        </p:txBody>
      </p:sp>
      <p:sp>
        <p:nvSpPr>
          <p:cNvPr id="17" name="Shape 15"/>
          <p:cNvSpPr/>
          <p:nvPr/>
        </p:nvSpPr>
        <p:spPr>
          <a:xfrm>
            <a:off x="6309360" y="3703320"/>
            <a:ext cx="5029200" cy="1600200"/>
          </a:xfrm>
          <a:prstGeom prst="roundRect">
            <a:avLst>
              <a:gd name="adj" fmla="val 5714"/>
            </a:avLst>
          </a:prstGeom>
          <a:solidFill>
            <a:srgbClr val="F4F6F6"/>
          </a:solidFill>
          <a:ln/>
          <a:effectLst>
            <a:outerShdw sx="100000" sy="100000" kx="0" ky="0" algn="bl" rotWithShape="0" blurRad="101600" dist="25400" dir="8100000">
              <a:srgbClr val="000000">
                <a:alpha val="12000"/>
              </a:srgbClr>
            </a:outerShdw>
          </a:effectLst>
        </p:spPr>
      </p:sp>
      <p:sp>
        <p:nvSpPr>
          <p:cNvPr id="18" name="Shape 16"/>
          <p:cNvSpPr/>
          <p:nvPr/>
        </p:nvSpPr>
        <p:spPr>
          <a:xfrm>
            <a:off x="6309360" y="3703320"/>
            <a:ext cx="146304" cy="1600200"/>
          </a:xfrm>
          <a:prstGeom prst="rect">
            <a:avLst/>
          </a:prstGeom>
          <a:solidFill>
            <a:srgbClr val="8E5AA8"/>
          </a:solidFill>
          <a:ln/>
        </p:spPr>
      </p:sp>
      <p:sp>
        <p:nvSpPr>
          <p:cNvPr id="19" name="Text 17"/>
          <p:cNvSpPr/>
          <p:nvPr/>
        </p:nvSpPr>
        <p:spPr>
          <a:xfrm>
            <a:off x="6675120" y="3977640"/>
            <a:ext cx="4572000" cy="457200"/>
          </a:xfrm>
          <a:prstGeom prst="rect">
            <a:avLst/>
          </a:prstGeom>
          <a:noFill/>
          <a:ln/>
        </p:spPr>
        <p:txBody>
          <a:bodyPr wrap="square" lIns="0" tIns="0" rIns="0" bIns="0" rtlCol="0" anchor="ctr"/>
          <a:lstStyle/>
          <a:p>
            <a:pPr indent="0" marL="0">
              <a:buNone/>
            </a:pPr>
            <a:r>
              <a:rPr lang="en-US" sz="1800" b="1" dirty="0">
                <a:solidFill>
                  <a:srgbClr val="2D2D2D"/>
                </a:solidFill>
                <a:latin typeface="Meiryo" pitchFamily="34" charset="0"/>
                <a:ea typeface="Meiryo" pitchFamily="34" charset="-122"/>
                <a:cs typeface="Meiryo" pitchFamily="34" charset="-120"/>
              </a:rPr>
              <a:t>その他</a:t>
            </a:r>
            <a:endParaRPr lang="en-US" sz="1800" dirty="0"/>
          </a:p>
        </p:txBody>
      </p:sp>
      <p:sp>
        <p:nvSpPr>
          <p:cNvPr id="20" name="Text 18"/>
          <p:cNvSpPr/>
          <p:nvPr/>
        </p:nvSpPr>
        <p:spPr>
          <a:xfrm>
            <a:off x="6675120" y="4480560"/>
            <a:ext cx="4572000" cy="640080"/>
          </a:xfrm>
          <a:prstGeom prst="rect">
            <a:avLst/>
          </a:prstGeom>
          <a:noFill/>
          <a:ln/>
        </p:spPr>
        <p:txBody>
          <a:bodyPr wrap="square" lIns="0" tIns="0" rIns="0" bIns="0" rtlCol="0" anchor="ctr"/>
          <a:lstStyle/>
          <a:p>
            <a:pPr indent="0" marL="0">
              <a:buNone/>
            </a:pPr>
            <a:r>
              <a:rPr lang="en-US" sz="1400" dirty="0">
                <a:solidFill>
                  <a:srgbClr val="70757A"/>
                </a:solidFill>
                <a:latin typeface="Meiryo" pitchFamily="34" charset="0"/>
                <a:ea typeface="Meiryo" pitchFamily="34" charset="-122"/>
                <a:cs typeface="Meiryo" pitchFamily="34" charset="-120"/>
              </a:rPr>
              <a:t>Open-Meteo (天気API)、Git / GitHub</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182880" cy="384048"/>
          </a:xfrm>
          <a:prstGeom prst="rect">
            <a:avLst/>
          </a:prstGeom>
          <a:solidFill>
            <a:srgbClr val="E2483D"/>
          </a:solidFill>
          <a:ln/>
        </p:spPr>
      </p:sp>
      <p:sp>
        <p:nvSpPr>
          <p:cNvPr id="3" name="Text 1"/>
          <p:cNvSpPr/>
          <p:nvPr/>
        </p:nvSpPr>
        <p:spPr>
          <a:xfrm>
            <a:off x="868680" y="393192"/>
            <a:ext cx="10607040" cy="640080"/>
          </a:xfrm>
          <a:prstGeom prst="rect">
            <a:avLst/>
          </a:prstGeom>
          <a:noFill/>
          <a:ln/>
        </p:spPr>
        <p:txBody>
          <a:bodyPr wrap="square" lIns="0" tIns="0" rIns="0" bIns="0" rtlCol="0" anchor="ctr"/>
          <a:lstStyle/>
          <a:p>
            <a:pPr indent="0" marL="0">
              <a:buNone/>
            </a:pPr>
            <a:r>
              <a:rPr lang="en-US" sz="2900" b="1" dirty="0">
                <a:solidFill>
                  <a:srgbClr val="2D2D2D"/>
                </a:solidFill>
                <a:latin typeface="Meiryo" pitchFamily="34" charset="0"/>
                <a:ea typeface="Meiryo" pitchFamily="34" charset="-122"/>
                <a:cs typeface="Meiryo" pitchFamily="34" charset="-120"/>
              </a:rPr>
              <a:t>通信のしくみ</a:t>
            </a:r>
            <a:endParaRPr lang="en-US" sz="2900" dirty="0"/>
          </a:p>
        </p:txBody>
      </p:sp>
      <p:sp>
        <p:nvSpPr>
          <p:cNvPr id="4" name="Text 2"/>
          <p:cNvSpPr/>
          <p:nvPr/>
        </p:nvSpPr>
        <p:spPr>
          <a:xfrm>
            <a:off x="886968" y="1024128"/>
            <a:ext cx="10607040" cy="365760"/>
          </a:xfrm>
          <a:prstGeom prst="rect">
            <a:avLst/>
          </a:prstGeom>
          <a:noFill/>
          <a:ln/>
        </p:spPr>
        <p:txBody>
          <a:bodyPr wrap="square" lIns="0" tIns="0" rIns="0" bIns="0" rtlCol="0" anchor="ctr"/>
          <a:lstStyle/>
          <a:p>
            <a:pPr indent="0" marL="0">
              <a:buNone/>
            </a:pPr>
            <a:r>
              <a:rPr lang="en-US" sz="1350" dirty="0">
                <a:solidFill>
                  <a:srgbClr val="70757A"/>
                </a:solidFill>
                <a:latin typeface="Meiryo" pitchFamily="34" charset="0"/>
                <a:ea typeface="Meiryo" pitchFamily="34" charset="-122"/>
                <a:cs typeface="Meiryo" pitchFamily="34" charset="-120"/>
              </a:rPr>
              <a:t>機器・画面・天気を REST API ＋ JSON でつなぐ</a:t>
            </a:r>
            <a:endParaRPr lang="en-US" sz="1350" dirty="0"/>
          </a:p>
        </p:txBody>
      </p:sp>
      <p:sp>
        <p:nvSpPr>
          <p:cNvPr id="5" name="Shape 3"/>
          <p:cNvSpPr/>
          <p:nvPr/>
        </p:nvSpPr>
        <p:spPr>
          <a:xfrm>
            <a:off x="868680" y="2377440"/>
            <a:ext cx="2834640" cy="1371600"/>
          </a:xfrm>
          <a:prstGeom prst="roundRect">
            <a:avLst>
              <a:gd name="adj" fmla="val 6667"/>
            </a:avLst>
          </a:prstGeom>
          <a:solidFill>
            <a:srgbClr val="FFFFFF"/>
          </a:solidFill>
          <a:ln w="25400">
            <a:solidFill>
              <a:srgbClr val="E2483D"/>
            </a:solidFill>
            <a:prstDash val="solid"/>
          </a:ln>
          <a:effectLst>
            <a:outerShdw sx="100000" sy="100000" kx="0" ky="0" algn="bl" rotWithShape="0" blurRad="101600" dist="25400" dir="8100000">
              <a:srgbClr val="000000">
                <a:alpha val="12000"/>
              </a:srgbClr>
            </a:outerShdw>
          </a:effectLst>
        </p:spPr>
      </p:sp>
      <p:sp>
        <p:nvSpPr>
          <p:cNvPr id="6" name="Text 4"/>
          <p:cNvSpPr/>
          <p:nvPr/>
        </p:nvSpPr>
        <p:spPr>
          <a:xfrm>
            <a:off x="960120" y="2377440"/>
            <a:ext cx="2651760" cy="1371600"/>
          </a:xfrm>
          <a:prstGeom prst="rect">
            <a:avLst/>
          </a:prstGeom>
          <a:noFill/>
          <a:ln/>
        </p:spPr>
        <p:txBody>
          <a:bodyPr wrap="square" lIns="0" tIns="0" rIns="0" bIns="0" rtlCol="0" anchor="ctr"/>
          <a:lstStyle/>
          <a:p>
            <a:pPr algn="ctr" indent="0" marL="0">
              <a:lnSpc>
                <a:spcPct val="110000"/>
              </a:lnSpc>
              <a:buNone/>
            </a:pPr>
            <a:r>
              <a:rPr lang="en-US" sz="1500" b="1" dirty="0">
                <a:solidFill>
                  <a:srgbClr val="2D2D2D"/>
                </a:solidFill>
                <a:latin typeface="Meiryo" pitchFamily="34" charset="0"/>
                <a:ea typeface="Meiryo" pitchFamily="34" charset="-122"/>
                <a:cs typeface="Meiryo" pitchFamily="34" charset="-120"/>
              </a:rPr>
              <a:t>ESP32</a:t>
            </a:r>
            <a:endParaRPr lang="en-US" sz="1500" dirty="0"/>
          </a:p>
          <a:p>
            <a:pPr algn="ctr" indent="0" marL="0">
              <a:lnSpc>
                <a:spcPct val="110000"/>
              </a:lnSpc>
              <a:buNone/>
            </a:pPr>
            <a:r>
              <a:rPr lang="en-US" sz="1100" dirty="0">
                <a:solidFill>
                  <a:srgbClr val="70757A"/>
                </a:solidFill>
                <a:latin typeface="Meiryo" pitchFamily="34" charset="0"/>
                <a:ea typeface="Meiryo" pitchFamily="34" charset="-122"/>
                <a:cs typeface="Meiryo" pitchFamily="34" charset="-120"/>
              </a:rPr>
              <a:t>＋ センサー × 3</a:t>
            </a:r>
            <a:endParaRPr lang="en-US" sz="1500" dirty="0"/>
          </a:p>
        </p:txBody>
      </p:sp>
      <p:sp>
        <p:nvSpPr>
          <p:cNvPr id="7" name="Shape 5"/>
          <p:cNvSpPr/>
          <p:nvPr/>
        </p:nvSpPr>
        <p:spPr>
          <a:xfrm>
            <a:off x="4572000" y="2377440"/>
            <a:ext cx="3108960" cy="1371600"/>
          </a:xfrm>
          <a:prstGeom prst="roundRect">
            <a:avLst>
              <a:gd name="adj" fmla="val 6667"/>
            </a:avLst>
          </a:prstGeom>
          <a:solidFill>
            <a:srgbClr val="FFFFFF"/>
          </a:solidFill>
          <a:ln w="25400">
            <a:solidFill>
              <a:srgbClr val="2FA15A"/>
            </a:solidFill>
            <a:prstDash val="solid"/>
          </a:ln>
          <a:effectLst>
            <a:outerShdw sx="100000" sy="100000" kx="0" ky="0" algn="bl" rotWithShape="0" blurRad="101600" dist="25400" dir="8100000">
              <a:srgbClr val="000000">
                <a:alpha val="12000"/>
              </a:srgbClr>
            </a:outerShdw>
          </a:effectLst>
        </p:spPr>
      </p:sp>
      <p:sp>
        <p:nvSpPr>
          <p:cNvPr id="8" name="Text 6"/>
          <p:cNvSpPr/>
          <p:nvPr/>
        </p:nvSpPr>
        <p:spPr>
          <a:xfrm>
            <a:off x="4663440" y="2377440"/>
            <a:ext cx="2926080" cy="1371600"/>
          </a:xfrm>
          <a:prstGeom prst="rect">
            <a:avLst/>
          </a:prstGeom>
          <a:noFill/>
          <a:ln/>
        </p:spPr>
        <p:txBody>
          <a:bodyPr wrap="square" lIns="0" tIns="0" rIns="0" bIns="0" rtlCol="0" anchor="ctr"/>
          <a:lstStyle/>
          <a:p>
            <a:pPr algn="ctr" indent="0" marL="0">
              <a:lnSpc>
                <a:spcPct val="110000"/>
              </a:lnSpc>
              <a:buNone/>
            </a:pPr>
            <a:r>
              <a:rPr lang="en-US" sz="1500" b="1" dirty="0">
                <a:solidFill>
                  <a:srgbClr val="2D2D2D"/>
                </a:solidFill>
                <a:latin typeface="Meiryo" pitchFamily="34" charset="0"/>
                <a:ea typeface="Meiryo" pitchFamily="34" charset="-122"/>
                <a:cs typeface="Meiryo" pitchFamily="34" charset="-120"/>
              </a:rPr>
              <a:t>FastAPI ＋ PostgreSQL</a:t>
            </a:r>
            <a:endParaRPr lang="en-US" sz="1500" dirty="0"/>
          </a:p>
          <a:p>
            <a:pPr algn="ctr" indent="0" marL="0">
              <a:lnSpc>
                <a:spcPct val="110000"/>
              </a:lnSpc>
              <a:buNone/>
            </a:pPr>
            <a:r>
              <a:rPr lang="en-US" sz="1100" dirty="0">
                <a:solidFill>
                  <a:srgbClr val="70757A"/>
                </a:solidFill>
                <a:latin typeface="Meiryo" pitchFamily="34" charset="0"/>
                <a:ea typeface="Meiryo" pitchFamily="34" charset="-122"/>
                <a:cs typeface="Meiryo" pitchFamily="34" charset="-120"/>
              </a:rPr>
              <a:t>サーバー (Docker)</a:t>
            </a:r>
            <a:endParaRPr lang="en-US" sz="1500" dirty="0"/>
          </a:p>
        </p:txBody>
      </p:sp>
      <p:sp>
        <p:nvSpPr>
          <p:cNvPr id="9" name="Shape 7"/>
          <p:cNvSpPr/>
          <p:nvPr/>
        </p:nvSpPr>
        <p:spPr>
          <a:xfrm>
            <a:off x="8549640" y="2377440"/>
            <a:ext cx="2788920" cy="1371600"/>
          </a:xfrm>
          <a:prstGeom prst="roundRect">
            <a:avLst>
              <a:gd name="adj" fmla="val 6667"/>
            </a:avLst>
          </a:prstGeom>
          <a:solidFill>
            <a:srgbClr val="FFFFFF"/>
          </a:solidFill>
          <a:ln w="25400">
            <a:solidFill>
              <a:srgbClr val="2F7DD1"/>
            </a:solidFill>
            <a:prstDash val="solid"/>
          </a:ln>
          <a:effectLst>
            <a:outerShdw sx="100000" sy="100000" kx="0" ky="0" algn="bl" rotWithShape="0" blurRad="101600" dist="25400" dir="8100000">
              <a:srgbClr val="000000">
                <a:alpha val="12000"/>
              </a:srgbClr>
            </a:outerShdw>
          </a:effectLst>
        </p:spPr>
      </p:sp>
      <p:sp>
        <p:nvSpPr>
          <p:cNvPr id="10" name="Text 8"/>
          <p:cNvSpPr/>
          <p:nvPr/>
        </p:nvSpPr>
        <p:spPr>
          <a:xfrm>
            <a:off x="8641080" y="2377440"/>
            <a:ext cx="2606040" cy="1371600"/>
          </a:xfrm>
          <a:prstGeom prst="rect">
            <a:avLst/>
          </a:prstGeom>
          <a:noFill/>
          <a:ln/>
        </p:spPr>
        <p:txBody>
          <a:bodyPr wrap="square" lIns="0" tIns="0" rIns="0" bIns="0" rtlCol="0" anchor="ctr"/>
          <a:lstStyle/>
          <a:p>
            <a:pPr algn="ctr" indent="0" marL="0">
              <a:lnSpc>
                <a:spcPct val="110000"/>
              </a:lnSpc>
              <a:buNone/>
            </a:pPr>
            <a:r>
              <a:rPr lang="en-US" sz="1500" b="1" dirty="0">
                <a:solidFill>
                  <a:srgbClr val="2D2D2D"/>
                </a:solidFill>
                <a:latin typeface="Meiryo" pitchFamily="34" charset="0"/>
                <a:ea typeface="Meiryo" pitchFamily="34" charset="-122"/>
                <a:cs typeface="Meiryo" pitchFamily="34" charset="-120"/>
              </a:rPr>
              <a:t>ブラウザ (React)</a:t>
            </a:r>
            <a:endParaRPr lang="en-US" sz="1500" dirty="0"/>
          </a:p>
          <a:p>
            <a:pPr algn="ctr" indent="0" marL="0">
              <a:lnSpc>
                <a:spcPct val="110000"/>
              </a:lnSpc>
              <a:buNone/>
            </a:pPr>
            <a:r>
              <a:rPr lang="en-US" sz="1100" dirty="0">
                <a:solidFill>
                  <a:srgbClr val="70757A"/>
                </a:solidFill>
                <a:latin typeface="Meiryo" pitchFamily="34" charset="0"/>
                <a:ea typeface="Meiryo" pitchFamily="34" charset="-122"/>
                <a:cs typeface="Meiryo" pitchFamily="34" charset="-120"/>
              </a:rPr>
              <a:t>ダッシュボード</a:t>
            </a:r>
            <a:endParaRPr lang="en-US" sz="1500" dirty="0"/>
          </a:p>
        </p:txBody>
      </p:sp>
      <p:sp>
        <p:nvSpPr>
          <p:cNvPr id="11" name="Shape 9"/>
          <p:cNvSpPr/>
          <p:nvPr/>
        </p:nvSpPr>
        <p:spPr>
          <a:xfrm>
            <a:off x="3703320" y="3063240"/>
            <a:ext cx="868680" cy="0"/>
          </a:xfrm>
          <a:prstGeom prst="line">
            <a:avLst/>
          </a:prstGeom>
          <a:noFill/>
          <a:ln w="25400">
            <a:solidFill>
              <a:srgbClr val="2D2D2D"/>
            </a:solidFill>
            <a:prstDash val="solid"/>
            <a:tailEnd type="triangle"/>
          </a:ln>
        </p:spPr>
      </p:sp>
      <p:sp>
        <p:nvSpPr>
          <p:cNvPr id="12" name="Text 10"/>
          <p:cNvSpPr/>
          <p:nvPr/>
        </p:nvSpPr>
        <p:spPr>
          <a:xfrm>
            <a:off x="3291840" y="2377440"/>
            <a:ext cx="1691640" cy="548640"/>
          </a:xfrm>
          <a:prstGeom prst="rect">
            <a:avLst/>
          </a:prstGeom>
          <a:noFill/>
          <a:ln/>
        </p:spPr>
        <p:txBody>
          <a:bodyPr wrap="square" lIns="0" tIns="0" rIns="0" bIns="0" rtlCol="0" anchor="ctr"/>
          <a:lstStyle/>
          <a:p>
            <a:pPr algn="ctr" indent="0" marL="0">
              <a:buNone/>
            </a:pPr>
            <a:r>
              <a:rPr lang="en-US" sz="900" dirty="0">
                <a:solidFill>
                  <a:srgbClr val="E2483D"/>
                </a:solidFill>
                <a:latin typeface="Meiryo" pitchFamily="34" charset="0"/>
                <a:ea typeface="Meiryo" pitchFamily="34" charset="-122"/>
                <a:cs typeface="Meiryo" pitchFamily="34" charset="-120"/>
              </a:rPr>
              <a:t>WiFi / HTTP POST (JSON)</a:t>
            </a:r>
            <a:endParaRPr lang="en-US" sz="900" dirty="0"/>
          </a:p>
        </p:txBody>
      </p:sp>
      <p:sp>
        <p:nvSpPr>
          <p:cNvPr id="13" name="Shape 11"/>
          <p:cNvSpPr/>
          <p:nvPr/>
        </p:nvSpPr>
        <p:spPr>
          <a:xfrm>
            <a:off x="7680960" y="3063240"/>
            <a:ext cx="868680" cy="0"/>
          </a:xfrm>
          <a:prstGeom prst="line">
            <a:avLst/>
          </a:prstGeom>
          <a:noFill/>
          <a:ln w="25400">
            <a:solidFill>
              <a:srgbClr val="2D2D2D"/>
            </a:solidFill>
            <a:prstDash val="solid"/>
            <a:tailEnd type="triangle"/>
          </a:ln>
        </p:spPr>
      </p:sp>
      <p:sp>
        <p:nvSpPr>
          <p:cNvPr id="14" name="Text 12"/>
          <p:cNvSpPr/>
          <p:nvPr/>
        </p:nvSpPr>
        <p:spPr>
          <a:xfrm>
            <a:off x="7589520" y="2377440"/>
            <a:ext cx="1280160" cy="548640"/>
          </a:xfrm>
          <a:prstGeom prst="rect">
            <a:avLst/>
          </a:prstGeom>
          <a:noFill/>
          <a:ln/>
        </p:spPr>
        <p:txBody>
          <a:bodyPr wrap="square" lIns="0" tIns="0" rIns="0" bIns="0" rtlCol="0" anchor="ctr"/>
          <a:lstStyle/>
          <a:p>
            <a:pPr algn="ctr" indent="0" marL="0">
              <a:buNone/>
            </a:pPr>
            <a:r>
              <a:rPr lang="en-US" sz="900" dirty="0">
                <a:solidFill>
                  <a:srgbClr val="2F7DD1"/>
                </a:solidFill>
                <a:latin typeface="Meiryo" pitchFamily="34" charset="0"/>
                <a:ea typeface="Meiryo" pitchFamily="34" charset="-122"/>
                <a:cs typeface="Meiryo" pitchFamily="34" charset="-120"/>
              </a:rPr>
              <a:t>HTTP GET (JSON)</a:t>
            </a:r>
            <a:endParaRPr lang="en-US" sz="900" dirty="0"/>
          </a:p>
        </p:txBody>
      </p:sp>
      <p:sp>
        <p:nvSpPr>
          <p:cNvPr id="15" name="Shape 13"/>
          <p:cNvSpPr/>
          <p:nvPr/>
        </p:nvSpPr>
        <p:spPr>
          <a:xfrm>
            <a:off x="4572000" y="4892040"/>
            <a:ext cx="3108960" cy="1097280"/>
          </a:xfrm>
          <a:prstGeom prst="roundRect">
            <a:avLst>
              <a:gd name="adj" fmla="val 8333"/>
            </a:avLst>
          </a:prstGeom>
          <a:solidFill>
            <a:srgbClr val="FFFFFF"/>
          </a:solidFill>
          <a:ln w="25400">
            <a:solidFill>
              <a:srgbClr val="8E5AA8"/>
            </a:solidFill>
            <a:prstDash val="solid"/>
          </a:ln>
          <a:effectLst>
            <a:outerShdw sx="100000" sy="100000" kx="0" ky="0" algn="bl" rotWithShape="0" blurRad="101600" dist="25400" dir="8100000">
              <a:srgbClr val="000000">
                <a:alpha val="12000"/>
              </a:srgbClr>
            </a:outerShdw>
          </a:effectLst>
        </p:spPr>
      </p:sp>
      <p:sp>
        <p:nvSpPr>
          <p:cNvPr id="16" name="Text 14"/>
          <p:cNvSpPr/>
          <p:nvPr/>
        </p:nvSpPr>
        <p:spPr>
          <a:xfrm>
            <a:off x="4663440" y="4892040"/>
            <a:ext cx="2926080" cy="1097280"/>
          </a:xfrm>
          <a:prstGeom prst="rect">
            <a:avLst/>
          </a:prstGeom>
          <a:noFill/>
          <a:ln/>
        </p:spPr>
        <p:txBody>
          <a:bodyPr wrap="square" lIns="0" tIns="0" rIns="0" bIns="0" rtlCol="0" anchor="ctr"/>
          <a:lstStyle/>
          <a:p>
            <a:pPr algn="ctr" indent="0" marL="0">
              <a:lnSpc>
                <a:spcPct val="110000"/>
              </a:lnSpc>
              <a:buNone/>
            </a:pPr>
            <a:r>
              <a:rPr lang="en-US" sz="1500" b="1" dirty="0">
                <a:solidFill>
                  <a:srgbClr val="2D2D2D"/>
                </a:solidFill>
                <a:latin typeface="Meiryo" pitchFamily="34" charset="0"/>
                <a:ea typeface="Meiryo" pitchFamily="34" charset="-122"/>
                <a:cs typeface="Meiryo" pitchFamily="34" charset="-120"/>
              </a:rPr>
              <a:t>天気API (Open-Meteo)</a:t>
            </a:r>
            <a:endParaRPr lang="en-US" sz="1500" dirty="0"/>
          </a:p>
          <a:p>
            <a:pPr algn="ctr" indent="0" marL="0">
              <a:lnSpc>
                <a:spcPct val="110000"/>
              </a:lnSpc>
              <a:buNone/>
            </a:pPr>
            <a:r>
              <a:rPr lang="en-US" sz="1100" dirty="0">
                <a:solidFill>
                  <a:srgbClr val="70757A"/>
                </a:solidFill>
                <a:latin typeface="Meiryo" pitchFamily="34" charset="0"/>
                <a:ea typeface="Meiryo" pitchFamily="34" charset="-122"/>
                <a:cs typeface="Meiryo" pitchFamily="34" charset="-120"/>
              </a:rPr>
              <a:t>気温・湿度・日照</a:t>
            </a:r>
            <a:endParaRPr lang="en-US" sz="1500" dirty="0"/>
          </a:p>
        </p:txBody>
      </p:sp>
      <p:sp>
        <p:nvSpPr>
          <p:cNvPr id="17" name="Shape 15"/>
          <p:cNvSpPr/>
          <p:nvPr/>
        </p:nvSpPr>
        <p:spPr>
          <a:xfrm>
            <a:off x="6126480" y="3749040"/>
            <a:ext cx="0" cy="1143000"/>
          </a:xfrm>
          <a:prstGeom prst="line">
            <a:avLst/>
          </a:prstGeom>
          <a:noFill/>
          <a:ln w="25400">
            <a:solidFill>
              <a:srgbClr val="2D2D2D"/>
            </a:solidFill>
            <a:prstDash val="solid"/>
            <a:headEnd type="triangle"/>
          </a:ln>
        </p:spPr>
      </p:sp>
      <p:sp>
        <p:nvSpPr>
          <p:cNvPr id="18" name="Text 16"/>
          <p:cNvSpPr/>
          <p:nvPr/>
        </p:nvSpPr>
        <p:spPr>
          <a:xfrm>
            <a:off x="6309360" y="4069080"/>
            <a:ext cx="2743200" cy="457200"/>
          </a:xfrm>
          <a:prstGeom prst="rect">
            <a:avLst/>
          </a:prstGeom>
          <a:noFill/>
          <a:ln/>
        </p:spPr>
        <p:txBody>
          <a:bodyPr wrap="square" lIns="0" tIns="0" rIns="0" bIns="0" rtlCol="0" anchor="ctr"/>
          <a:lstStyle/>
          <a:p>
            <a:pPr indent="0" marL="0">
              <a:buNone/>
            </a:pPr>
            <a:r>
              <a:rPr lang="en-US" sz="1000" dirty="0">
                <a:solidFill>
                  <a:srgbClr val="8E5AA8"/>
                </a:solidFill>
                <a:latin typeface="Meiryo" pitchFamily="34" charset="0"/>
                <a:ea typeface="Meiryo" pitchFamily="34" charset="-122"/>
                <a:cs typeface="Meiryo" pitchFamily="34" charset="-120"/>
              </a:rPr>
              <a:t>定時取得 → POST</a:t>
            </a:r>
            <a:endParaRPr lang="en-US" sz="1000" dirty="0"/>
          </a:p>
        </p:txBody>
      </p:sp>
      <p:sp>
        <p:nvSpPr>
          <p:cNvPr id="19" name="Text 17"/>
          <p:cNvSpPr/>
          <p:nvPr/>
        </p:nvSpPr>
        <p:spPr>
          <a:xfrm>
            <a:off x="868680" y="6217920"/>
            <a:ext cx="10515600" cy="457200"/>
          </a:xfrm>
          <a:prstGeom prst="rect">
            <a:avLst/>
          </a:prstGeom>
          <a:noFill/>
          <a:ln/>
        </p:spPr>
        <p:txBody>
          <a:bodyPr wrap="square" lIns="0" tIns="0" rIns="0" bIns="0" rtlCol="0" anchor="ctr"/>
          <a:lstStyle/>
          <a:p>
            <a:pPr indent="0" marL="0">
              <a:buNone/>
            </a:pPr>
            <a:r>
              <a:rPr lang="en-US" sz="1300" i="1" dirty="0">
                <a:solidFill>
                  <a:srgbClr val="2D2D2D"/>
                </a:solidFill>
                <a:latin typeface="Meiryo" pitchFamily="34" charset="0"/>
                <a:ea typeface="Meiryo" pitchFamily="34" charset="-122"/>
                <a:cs typeface="Meiryo" pitchFamily="34" charset="-120"/>
              </a:rPr>
              <a:t>→ すべて同じ「REST API ＋ JSON」。後から機能を足しやすい作り。</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182880" cy="384048"/>
          </a:xfrm>
          <a:prstGeom prst="rect">
            <a:avLst/>
          </a:prstGeom>
          <a:solidFill>
            <a:srgbClr val="E2483D"/>
          </a:solidFill>
          <a:ln/>
        </p:spPr>
      </p:sp>
      <p:sp>
        <p:nvSpPr>
          <p:cNvPr id="3" name="Text 1"/>
          <p:cNvSpPr/>
          <p:nvPr/>
        </p:nvSpPr>
        <p:spPr>
          <a:xfrm>
            <a:off x="868680" y="393192"/>
            <a:ext cx="10607040" cy="640080"/>
          </a:xfrm>
          <a:prstGeom prst="rect">
            <a:avLst/>
          </a:prstGeom>
          <a:noFill/>
          <a:ln/>
        </p:spPr>
        <p:txBody>
          <a:bodyPr wrap="square" lIns="0" tIns="0" rIns="0" bIns="0" rtlCol="0" anchor="ctr"/>
          <a:lstStyle/>
          <a:p>
            <a:pPr indent="0" marL="0">
              <a:buNone/>
            </a:pPr>
            <a:r>
              <a:rPr lang="en-US" sz="2900" b="1" dirty="0">
                <a:solidFill>
                  <a:srgbClr val="2D2D2D"/>
                </a:solidFill>
                <a:latin typeface="Meiryo" pitchFamily="34" charset="0"/>
                <a:ea typeface="Meiryo" pitchFamily="34" charset="-122"/>
                <a:cs typeface="Meiryo" pitchFamily="34" charset="-120"/>
              </a:rPr>
              <a:t>ダッシュボード画面</a:t>
            </a:r>
            <a:endParaRPr lang="en-US" sz="2900" dirty="0"/>
          </a:p>
        </p:txBody>
      </p:sp>
      <p:sp>
        <p:nvSpPr>
          <p:cNvPr id="4" name="Text 2"/>
          <p:cNvSpPr/>
          <p:nvPr/>
        </p:nvSpPr>
        <p:spPr>
          <a:xfrm>
            <a:off x="886968" y="1024128"/>
            <a:ext cx="10607040" cy="365760"/>
          </a:xfrm>
          <a:prstGeom prst="rect">
            <a:avLst/>
          </a:prstGeom>
          <a:noFill/>
          <a:ln/>
        </p:spPr>
        <p:txBody>
          <a:bodyPr wrap="square" lIns="0" tIns="0" rIns="0" bIns="0" rtlCol="0" anchor="ctr"/>
          <a:lstStyle/>
          <a:p>
            <a:pPr indent="0" marL="0">
              <a:buNone/>
            </a:pPr>
            <a:r>
              <a:rPr lang="en-US" sz="1350" dirty="0">
                <a:solidFill>
                  <a:srgbClr val="70757A"/>
                </a:solidFill>
                <a:latin typeface="Meiryo" pitchFamily="34" charset="0"/>
                <a:ea typeface="Meiryo" pitchFamily="34" charset="-122"/>
                <a:cs typeface="Meiryo" pitchFamily="34" charset="-120"/>
              </a:rPr>
              <a:t>一目で分かる可視化〔写真〕</a:t>
            </a:r>
            <a:endParaRPr lang="en-US" sz="1350" dirty="0"/>
          </a:p>
        </p:txBody>
      </p:sp>
      <p:sp>
        <p:nvSpPr>
          <p:cNvPr id="5" name="Shape 3"/>
          <p:cNvSpPr/>
          <p:nvPr/>
        </p:nvSpPr>
        <p:spPr>
          <a:xfrm>
            <a:off x="868680" y="1783080"/>
            <a:ext cx="6766560" cy="4297680"/>
          </a:xfrm>
          <a:prstGeom prst="roundRect">
            <a:avLst>
              <a:gd name="adj" fmla="val 2128"/>
            </a:avLst>
          </a:prstGeom>
          <a:solidFill>
            <a:srgbClr val="F4F6F6"/>
          </a:solidFill>
          <a:ln w="19050">
            <a:solidFill>
              <a:srgbClr val="D9DEDE"/>
            </a:solidFill>
            <a:prstDash val="dash"/>
          </a:ln>
        </p:spPr>
      </p:sp>
      <p:sp>
        <p:nvSpPr>
          <p:cNvPr id="6" name="Text 4"/>
          <p:cNvSpPr/>
          <p:nvPr/>
        </p:nvSpPr>
        <p:spPr>
          <a:xfrm>
            <a:off x="1051560" y="3611880"/>
            <a:ext cx="6400800" cy="640080"/>
          </a:xfrm>
          <a:prstGeom prst="rect">
            <a:avLst/>
          </a:prstGeom>
          <a:noFill/>
          <a:ln/>
        </p:spPr>
        <p:txBody>
          <a:bodyPr wrap="square" lIns="0" tIns="0" rIns="0" bIns="0" rtlCol="0" anchor="ctr"/>
          <a:lstStyle/>
          <a:p>
            <a:pPr algn="ctr" indent="0" marL="0">
              <a:buNone/>
            </a:pPr>
            <a:r>
              <a:rPr lang="en-US" sz="1300" dirty="0">
                <a:solidFill>
                  <a:srgbClr val="70757A"/>
                </a:solidFill>
                <a:latin typeface="Meiryo" pitchFamily="34" charset="0"/>
                <a:ea typeface="Meiryo" pitchFamily="34" charset="-122"/>
                <a:cs typeface="Meiryo" pitchFamily="34" charset="-120"/>
              </a:rPr>
              <a:t>［ ダッシュボード画面のスクリーンショットをここに ］</a:t>
            </a:r>
            <a:endParaRPr lang="en-US" sz="1300" dirty="0"/>
          </a:p>
        </p:txBody>
      </p:sp>
      <p:sp>
        <p:nvSpPr>
          <p:cNvPr id="7" name="Text 5"/>
          <p:cNvSpPr/>
          <p:nvPr/>
        </p:nvSpPr>
        <p:spPr>
          <a:xfrm>
            <a:off x="7955280" y="2011680"/>
            <a:ext cx="3383280" cy="3840480"/>
          </a:xfrm>
          <a:prstGeom prst="rect">
            <a:avLst/>
          </a:prstGeom>
          <a:noFill/>
          <a:ln/>
        </p:spPr>
        <p:txBody>
          <a:bodyPr wrap="square" lIns="0" tIns="0" rIns="0" bIns="0" rtlCol="0" anchor="ctr"/>
          <a:lstStyle/>
          <a:p>
            <a:pPr indent="0" marL="0">
              <a:spcAft>
                <a:spcPts val="800"/>
              </a:spcAft>
              <a:buNone/>
            </a:pPr>
            <a:r>
              <a:rPr lang="en-US" sz="1350" b="1" dirty="0">
                <a:solidFill>
                  <a:srgbClr val="2D2D2D"/>
                </a:solidFill>
                <a:latin typeface="Meiryo" pitchFamily="34" charset="0"/>
                <a:ea typeface="Meiryo" pitchFamily="34" charset="-122"/>
                <a:cs typeface="Meiryo" pitchFamily="34" charset="-120"/>
              </a:rPr>
              <a:t>画面で分かること</a:t>
            </a:r>
            <a:endParaRPr lang="en-US" sz="1350" dirty="0"/>
          </a:p>
          <a:p>
            <a:pPr marL="342900" indent="-342900">
              <a:spcAft>
                <a:spcPts val="800"/>
              </a:spcAft>
              <a:buSzPct val="100000"/>
              <a:buChar char="•"/>
            </a:pPr>
            <a:r>
              <a:rPr lang="en-US" sz="1350" dirty="0">
                <a:solidFill>
                  <a:srgbClr val="2D2D2D"/>
                </a:solidFill>
                <a:latin typeface="Meiryo" pitchFamily="34" charset="0"/>
                <a:ea typeface="Meiryo" pitchFamily="34" charset="-122"/>
                <a:cs typeface="Meiryo" pitchFamily="34" charset="-120"/>
              </a:rPr>
              <a:t>3本の最新水分量とその平均</a:t>
            </a:r>
            <a:endParaRPr lang="en-US" sz="1350" dirty="0"/>
          </a:p>
          <a:p>
            <a:pPr marL="342900" indent="-342900">
              <a:spcAft>
                <a:spcPts val="800"/>
              </a:spcAft>
              <a:buSzPct val="100000"/>
              <a:buChar char="•"/>
            </a:pPr>
            <a:r>
              <a:rPr lang="en-US" sz="1350" dirty="0">
                <a:solidFill>
                  <a:srgbClr val="2D2D2D"/>
                </a:solidFill>
                <a:latin typeface="Meiryo" pitchFamily="34" charset="0"/>
                <a:ea typeface="Meiryo" pitchFamily="34" charset="-122"/>
                <a:cs typeface="Meiryo" pitchFamily="34" charset="-120"/>
              </a:rPr>
              <a:t>天気・気温・日照時間</a:t>
            </a:r>
            <a:endParaRPr lang="en-US" sz="1350" dirty="0"/>
          </a:p>
          <a:p>
            <a:pPr marL="342900" indent="-342900">
              <a:spcAft>
                <a:spcPts val="800"/>
              </a:spcAft>
              <a:buSzPct val="100000"/>
              <a:buChar char="•"/>
            </a:pPr>
            <a:r>
              <a:rPr lang="en-US" sz="1350" dirty="0">
                <a:solidFill>
                  <a:srgbClr val="2D2D2D"/>
                </a:solidFill>
                <a:latin typeface="Meiryo" pitchFamily="34" charset="0"/>
                <a:ea typeface="Meiryo" pitchFamily="34" charset="-122"/>
                <a:cs typeface="Meiryo" pitchFamily="34" charset="-120"/>
              </a:rPr>
              <a:t>株ごとの水分の推移グラフ</a:t>
            </a:r>
            <a:endParaRPr lang="en-US" sz="1350" dirty="0"/>
          </a:p>
          <a:p>
            <a:pPr marL="342900" indent="-342900">
              <a:spcAft>
                <a:spcPts val="800"/>
              </a:spcAft>
              <a:buSzPct val="100000"/>
              <a:buChar char="•"/>
            </a:pPr>
            <a:r>
              <a:rPr lang="en-US" sz="1350" dirty="0">
                <a:solidFill>
                  <a:srgbClr val="2D2D2D"/>
                </a:solidFill>
                <a:latin typeface="Meiryo" pitchFamily="34" charset="0"/>
                <a:ea typeface="Meiryo" pitchFamily="34" charset="-122"/>
                <a:cs typeface="Meiryo" pitchFamily="34" charset="-120"/>
              </a:rPr>
              <a:t>水やり・収穫・糖度の履歴</a:t>
            </a:r>
            <a:endParaRPr lang="en-US" sz="1350" dirty="0"/>
          </a:p>
          <a:p>
            <a:pPr marL="342900" indent="-342900">
              <a:spcAft>
                <a:spcPts val="800"/>
              </a:spcAft>
              <a:buSzPct val="100000"/>
              <a:buChar char="•"/>
            </a:pPr>
            <a:r>
              <a:rPr lang="en-US" sz="1350" dirty="0">
                <a:solidFill>
                  <a:srgbClr val="2D2D2D"/>
                </a:solidFill>
                <a:latin typeface="Meiryo" pitchFamily="34" charset="0"/>
                <a:ea typeface="Meiryo" pitchFamily="34" charset="-122"/>
                <a:cs typeface="Meiryo" pitchFamily="34" charset="-120"/>
              </a:rPr>
              <a:t>スマホからも確認できる</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182880" cy="384048"/>
          </a:xfrm>
          <a:prstGeom prst="rect">
            <a:avLst/>
          </a:prstGeom>
          <a:solidFill>
            <a:srgbClr val="E2483D"/>
          </a:solidFill>
          <a:ln/>
        </p:spPr>
      </p:sp>
      <p:sp>
        <p:nvSpPr>
          <p:cNvPr id="3" name="Text 1"/>
          <p:cNvSpPr/>
          <p:nvPr/>
        </p:nvSpPr>
        <p:spPr>
          <a:xfrm>
            <a:off x="868680" y="393192"/>
            <a:ext cx="10607040" cy="640080"/>
          </a:xfrm>
          <a:prstGeom prst="rect">
            <a:avLst/>
          </a:prstGeom>
          <a:noFill/>
          <a:ln/>
        </p:spPr>
        <p:txBody>
          <a:bodyPr wrap="square" lIns="0" tIns="0" rIns="0" bIns="0" rtlCol="0" anchor="ctr"/>
          <a:lstStyle/>
          <a:p>
            <a:pPr indent="0" marL="0">
              <a:buNone/>
            </a:pPr>
            <a:r>
              <a:rPr lang="en-US" sz="2900" b="1" dirty="0">
                <a:solidFill>
                  <a:srgbClr val="2D2D2D"/>
                </a:solidFill>
                <a:latin typeface="Meiryo" pitchFamily="34" charset="0"/>
                <a:ea typeface="Meiryo" pitchFamily="34" charset="-122"/>
                <a:cs typeface="Meiryo" pitchFamily="34" charset="-120"/>
              </a:rPr>
              <a:t>設置・運用の様子</a:t>
            </a:r>
            <a:endParaRPr lang="en-US" sz="2900" dirty="0"/>
          </a:p>
        </p:txBody>
      </p:sp>
      <p:sp>
        <p:nvSpPr>
          <p:cNvPr id="4" name="Text 2"/>
          <p:cNvSpPr/>
          <p:nvPr/>
        </p:nvSpPr>
        <p:spPr>
          <a:xfrm>
            <a:off x="886968" y="1024128"/>
            <a:ext cx="10607040" cy="365760"/>
          </a:xfrm>
          <a:prstGeom prst="rect">
            <a:avLst/>
          </a:prstGeom>
          <a:noFill/>
          <a:ln/>
        </p:spPr>
        <p:txBody>
          <a:bodyPr wrap="square" lIns="0" tIns="0" rIns="0" bIns="0" rtlCol="0" anchor="ctr"/>
          <a:lstStyle/>
          <a:p>
            <a:pPr indent="0" marL="0">
              <a:buNone/>
            </a:pPr>
            <a:r>
              <a:rPr lang="en-US" sz="1350" dirty="0">
                <a:solidFill>
                  <a:srgbClr val="70757A"/>
                </a:solidFill>
                <a:latin typeface="Meiryo" pitchFamily="34" charset="0"/>
                <a:ea typeface="Meiryo" pitchFamily="34" charset="-122"/>
                <a:cs typeface="Meiryo" pitchFamily="34" charset="-120"/>
              </a:rPr>
              <a:t>実際にトマトで運用〔写真〕</a:t>
            </a:r>
            <a:endParaRPr lang="en-US" sz="1350" dirty="0"/>
          </a:p>
        </p:txBody>
      </p:sp>
      <p:sp>
        <p:nvSpPr>
          <p:cNvPr id="5" name="Text 3"/>
          <p:cNvSpPr/>
          <p:nvPr/>
        </p:nvSpPr>
        <p:spPr>
          <a:xfrm>
            <a:off x="886968" y="2011680"/>
            <a:ext cx="3931920" cy="3840480"/>
          </a:xfrm>
          <a:prstGeom prst="rect">
            <a:avLst/>
          </a:prstGeom>
          <a:noFill/>
          <a:ln/>
        </p:spPr>
        <p:txBody>
          <a:bodyPr wrap="square" lIns="0" tIns="0" rIns="0" bIns="0" rtlCol="0" anchor="ctr"/>
          <a:lstStyle/>
          <a:p>
            <a:pPr indent="0" marL="0">
              <a:spcAft>
                <a:spcPts val="800"/>
              </a:spcAft>
              <a:buNone/>
            </a:pPr>
            <a:r>
              <a:rPr lang="en-US" sz="1350" b="1" dirty="0">
                <a:solidFill>
                  <a:srgbClr val="2D2D2D"/>
                </a:solidFill>
                <a:latin typeface="Meiryo" pitchFamily="34" charset="0"/>
                <a:ea typeface="Meiryo" pitchFamily="34" charset="-122"/>
                <a:cs typeface="Meiryo" pitchFamily="34" charset="-120"/>
              </a:rPr>
              <a:t>記録できること</a:t>
            </a:r>
            <a:endParaRPr lang="en-US" sz="1350" dirty="0"/>
          </a:p>
          <a:p>
            <a:pPr marL="342900" indent="-342900">
              <a:spcAft>
                <a:spcPts val="800"/>
              </a:spcAft>
              <a:buSzPct val="100000"/>
              <a:buChar char="•"/>
            </a:pPr>
            <a:r>
              <a:rPr lang="en-US" sz="1350" dirty="0">
                <a:solidFill>
                  <a:srgbClr val="2D2D2D"/>
                </a:solidFill>
                <a:latin typeface="Meiryo" pitchFamily="34" charset="0"/>
                <a:ea typeface="Meiryo" pitchFamily="34" charset="-122"/>
                <a:cs typeface="Meiryo" pitchFamily="34" charset="-120"/>
              </a:rPr>
              <a:t>開花日・収穫日</a:t>
            </a:r>
            <a:endParaRPr lang="en-US" sz="1350" dirty="0"/>
          </a:p>
          <a:p>
            <a:pPr marL="342900" indent="-342900">
              <a:spcAft>
                <a:spcPts val="800"/>
              </a:spcAft>
              <a:buSzPct val="100000"/>
              <a:buChar char="•"/>
            </a:pPr>
            <a:r>
              <a:rPr lang="en-US" sz="1350" dirty="0">
                <a:solidFill>
                  <a:srgbClr val="2D2D2D"/>
                </a:solidFill>
                <a:latin typeface="Meiryo" pitchFamily="34" charset="0"/>
                <a:ea typeface="Meiryo" pitchFamily="34" charset="-122"/>
                <a:cs typeface="Meiryo" pitchFamily="34" charset="-120"/>
              </a:rPr>
              <a:t>実のサイズ・重さ・糖度</a:t>
            </a:r>
            <a:endParaRPr lang="en-US" sz="1350" dirty="0"/>
          </a:p>
          <a:p>
            <a:pPr marL="342900" indent="-342900">
              <a:spcAft>
                <a:spcPts val="800"/>
              </a:spcAft>
              <a:buSzPct val="100000"/>
              <a:buChar char="•"/>
            </a:pPr>
            <a:r>
              <a:rPr lang="en-US" sz="1350" dirty="0">
                <a:solidFill>
                  <a:srgbClr val="2D2D2D"/>
                </a:solidFill>
                <a:latin typeface="Meiryo" pitchFamily="34" charset="0"/>
                <a:ea typeface="Meiryo" pitchFamily="34" charset="-122"/>
                <a:cs typeface="Meiryo" pitchFamily="34" charset="-120"/>
              </a:rPr>
              <a:t>写真（実の様子）</a:t>
            </a:r>
            <a:endParaRPr lang="en-US" sz="1350" dirty="0"/>
          </a:p>
          <a:p>
            <a:pPr marL="342900" indent="-342900">
              <a:spcAft>
                <a:spcPts val="800"/>
              </a:spcAft>
              <a:buSzPct val="100000"/>
              <a:buChar char="•"/>
            </a:pPr>
            <a:r>
              <a:rPr lang="en-US" sz="1350" dirty="0">
                <a:solidFill>
                  <a:srgbClr val="2D2D2D"/>
                </a:solidFill>
                <a:latin typeface="Meiryo" pitchFamily="34" charset="0"/>
                <a:ea typeface="Meiryo" pitchFamily="34" charset="-122"/>
                <a:cs typeface="Meiryo" pitchFamily="34" charset="-120"/>
              </a:rPr>
              <a:t>開花からの累積日照時間（自動計算）</a:t>
            </a:r>
            <a:endParaRPr lang="en-US" sz="1350" dirty="0"/>
          </a:p>
        </p:txBody>
      </p:sp>
      <p:sp>
        <p:nvSpPr>
          <p:cNvPr id="6" name="Shape 4"/>
          <p:cNvSpPr/>
          <p:nvPr/>
        </p:nvSpPr>
        <p:spPr>
          <a:xfrm>
            <a:off x="5120640" y="1783080"/>
            <a:ext cx="6217920" cy="4297680"/>
          </a:xfrm>
          <a:prstGeom prst="roundRect">
            <a:avLst>
              <a:gd name="adj" fmla="val 2128"/>
            </a:avLst>
          </a:prstGeom>
          <a:solidFill>
            <a:srgbClr val="F4F6F6"/>
          </a:solidFill>
          <a:ln w="19050">
            <a:solidFill>
              <a:srgbClr val="D9DEDE"/>
            </a:solidFill>
            <a:prstDash val="dash"/>
          </a:ln>
        </p:spPr>
      </p:sp>
      <p:sp>
        <p:nvSpPr>
          <p:cNvPr id="7" name="Text 5"/>
          <p:cNvSpPr/>
          <p:nvPr/>
        </p:nvSpPr>
        <p:spPr>
          <a:xfrm>
            <a:off x="5303520" y="3611880"/>
            <a:ext cx="5852160" cy="640080"/>
          </a:xfrm>
          <a:prstGeom prst="rect">
            <a:avLst/>
          </a:prstGeom>
          <a:noFill/>
          <a:ln/>
        </p:spPr>
        <p:txBody>
          <a:bodyPr wrap="square" lIns="0" tIns="0" rIns="0" bIns="0" rtlCol="0" anchor="ctr"/>
          <a:lstStyle/>
          <a:p>
            <a:pPr algn="ctr" indent="0" marL="0">
              <a:buNone/>
            </a:pPr>
            <a:r>
              <a:rPr lang="en-US" sz="1300" dirty="0">
                <a:solidFill>
                  <a:srgbClr val="70757A"/>
                </a:solidFill>
                <a:latin typeface="Meiryo" pitchFamily="34" charset="0"/>
                <a:ea typeface="Meiryo" pitchFamily="34" charset="-122"/>
                <a:cs typeface="Meiryo" pitchFamily="34" charset="-120"/>
              </a:rPr>
              <a:t>［ トマトの株・センサー設置・運用中の写真をここに ］</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182880" cy="384048"/>
          </a:xfrm>
          <a:prstGeom prst="rect">
            <a:avLst/>
          </a:prstGeom>
          <a:solidFill>
            <a:srgbClr val="E2483D"/>
          </a:solidFill>
          <a:ln/>
        </p:spPr>
      </p:sp>
      <p:sp>
        <p:nvSpPr>
          <p:cNvPr id="3" name="Text 1"/>
          <p:cNvSpPr/>
          <p:nvPr/>
        </p:nvSpPr>
        <p:spPr>
          <a:xfrm>
            <a:off x="868680" y="393192"/>
            <a:ext cx="10607040" cy="640080"/>
          </a:xfrm>
          <a:prstGeom prst="rect">
            <a:avLst/>
          </a:prstGeom>
          <a:noFill/>
          <a:ln/>
        </p:spPr>
        <p:txBody>
          <a:bodyPr wrap="square" lIns="0" tIns="0" rIns="0" bIns="0" rtlCol="0" anchor="ctr"/>
          <a:lstStyle/>
          <a:p>
            <a:pPr indent="0" marL="0">
              <a:buNone/>
            </a:pPr>
            <a:r>
              <a:rPr lang="en-US" sz="2900" b="1" dirty="0">
                <a:solidFill>
                  <a:srgbClr val="2D2D2D"/>
                </a:solidFill>
                <a:latin typeface="Meiryo" pitchFamily="34" charset="0"/>
                <a:ea typeface="Meiryo" pitchFamily="34" charset="-122"/>
                <a:cs typeface="Meiryo" pitchFamily="34" charset="-120"/>
              </a:rPr>
              <a:t>直面した課題と乗り越え方</a:t>
            </a:r>
            <a:endParaRPr lang="en-US" sz="2900" dirty="0"/>
          </a:p>
        </p:txBody>
      </p:sp>
      <p:sp>
        <p:nvSpPr>
          <p:cNvPr id="4" name="Text 2"/>
          <p:cNvSpPr/>
          <p:nvPr/>
        </p:nvSpPr>
        <p:spPr>
          <a:xfrm>
            <a:off x="886968" y="1024128"/>
            <a:ext cx="10607040" cy="365760"/>
          </a:xfrm>
          <a:prstGeom prst="rect">
            <a:avLst/>
          </a:prstGeom>
          <a:noFill/>
          <a:ln/>
        </p:spPr>
        <p:txBody>
          <a:bodyPr wrap="square" lIns="0" tIns="0" rIns="0" bIns="0" rtlCol="0" anchor="ctr"/>
          <a:lstStyle/>
          <a:p>
            <a:pPr indent="0" marL="0">
              <a:buNone/>
            </a:pPr>
            <a:r>
              <a:rPr lang="en-US" sz="1350" dirty="0">
                <a:solidFill>
                  <a:srgbClr val="70757A"/>
                </a:solidFill>
                <a:latin typeface="Meiryo" pitchFamily="34" charset="0"/>
                <a:ea typeface="Meiryo" pitchFamily="34" charset="-122"/>
                <a:cs typeface="Meiryo" pitchFamily="34" charset="-120"/>
              </a:rPr>
              <a:t>一つずつ原因を調べて解決した</a:t>
            </a:r>
            <a:endParaRPr lang="en-US" sz="1350" dirty="0"/>
          </a:p>
        </p:txBody>
      </p:sp>
      <p:sp>
        <p:nvSpPr>
          <p:cNvPr id="5" name="Shape 3"/>
          <p:cNvSpPr/>
          <p:nvPr/>
        </p:nvSpPr>
        <p:spPr>
          <a:xfrm>
            <a:off x="868680" y="1783080"/>
            <a:ext cx="10469880" cy="1325880"/>
          </a:xfrm>
          <a:prstGeom prst="roundRect">
            <a:avLst>
              <a:gd name="adj" fmla="val 6897"/>
            </a:avLst>
          </a:prstGeom>
          <a:solidFill>
            <a:srgbClr val="F4F6F6"/>
          </a:solidFill>
          <a:ln/>
        </p:spPr>
      </p:sp>
      <p:sp>
        <p:nvSpPr>
          <p:cNvPr id="6" name="Shape 4"/>
          <p:cNvSpPr/>
          <p:nvPr/>
        </p:nvSpPr>
        <p:spPr>
          <a:xfrm>
            <a:off x="868680" y="1783080"/>
            <a:ext cx="146304" cy="1325880"/>
          </a:xfrm>
          <a:prstGeom prst="rect">
            <a:avLst/>
          </a:prstGeom>
          <a:solidFill>
            <a:srgbClr val="E2483D"/>
          </a:solidFill>
          <a:ln/>
        </p:spPr>
      </p:sp>
      <p:sp>
        <p:nvSpPr>
          <p:cNvPr id="7" name="Text 5"/>
          <p:cNvSpPr/>
          <p:nvPr/>
        </p:nvSpPr>
        <p:spPr>
          <a:xfrm>
            <a:off x="1188720" y="1947672"/>
            <a:ext cx="10058400" cy="411480"/>
          </a:xfrm>
          <a:prstGeom prst="rect">
            <a:avLst/>
          </a:prstGeom>
          <a:noFill/>
          <a:ln/>
        </p:spPr>
        <p:txBody>
          <a:bodyPr wrap="square" lIns="0" tIns="0" rIns="0" bIns="0" rtlCol="0" anchor="ctr"/>
          <a:lstStyle/>
          <a:p>
            <a:pPr indent="0" marL="0">
              <a:buNone/>
            </a:pPr>
            <a:r>
              <a:rPr lang="en-US" sz="1600" b="1" dirty="0">
                <a:solidFill>
                  <a:srgbClr val="2D2D2D"/>
                </a:solidFill>
                <a:latin typeface="Meiryo" pitchFamily="34" charset="0"/>
                <a:ea typeface="Meiryo" pitchFamily="34" charset="-122"/>
                <a:cs typeface="Meiryo" pitchFamily="34" charset="-120"/>
              </a:rPr>
              <a:t>通信がつながらない</a:t>
            </a:r>
            <a:endParaRPr lang="en-US" sz="1600" dirty="0"/>
          </a:p>
        </p:txBody>
      </p:sp>
      <p:sp>
        <p:nvSpPr>
          <p:cNvPr id="8" name="Text 6"/>
          <p:cNvSpPr/>
          <p:nvPr/>
        </p:nvSpPr>
        <p:spPr>
          <a:xfrm>
            <a:off x="1188720" y="2404872"/>
            <a:ext cx="9966960" cy="548640"/>
          </a:xfrm>
          <a:prstGeom prst="rect">
            <a:avLst/>
          </a:prstGeom>
          <a:noFill/>
          <a:ln/>
        </p:spPr>
        <p:txBody>
          <a:bodyPr wrap="square" lIns="0" tIns="0" rIns="0" bIns="0" rtlCol="0" anchor="ctr"/>
          <a:lstStyle/>
          <a:p>
            <a:pPr indent="0" marL="0">
              <a:buNone/>
            </a:pPr>
            <a:r>
              <a:rPr lang="en-US" sz="1350" dirty="0">
                <a:solidFill>
                  <a:srgbClr val="70757A"/>
                </a:solidFill>
                <a:latin typeface="Meiryo" pitchFamily="34" charset="0"/>
                <a:ea typeface="Meiryo" pitchFamily="34" charset="-122"/>
                <a:cs typeface="Meiryo" pitchFamily="34" charset="-120"/>
              </a:rPr>
              <a:t>WiFiのファイアウォール・ネットワーク種別・サーバーのCORS設定を見直して解決</a:t>
            </a:r>
            <a:endParaRPr lang="en-US" sz="1350" dirty="0"/>
          </a:p>
        </p:txBody>
      </p:sp>
      <p:sp>
        <p:nvSpPr>
          <p:cNvPr id="9" name="Shape 7"/>
          <p:cNvSpPr/>
          <p:nvPr/>
        </p:nvSpPr>
        <p:spPr>
          <a:xfrm>
            <a:off x="868680" y="3246120"/>
            <a:ext cx="10469880" cy="1325880"/>
          </a:xfrm>
          <a:prstGeom prst="roundRect">
            <a:avLst>
              <a:gd name="adj" fmla="val 6897"/>
            </a:avLst>
          </a:prstGeom>
          <a:solidFill>
            <a:srgbClr val="F4F6F6"/>
          </a:solidFill>
          <a:ln/>
        </p:spPr>
      </p:sp>
      <p:sp>
        <p:nvSpPr>
          <p:cNvPr id="10" name="Shape 8"/>
          <p:cNvSpPr/>
          <p:nvPr/>
        </p:nvSpPr>
        <p:spPr>
          <a:xfrm>
            <a:off x="868680" y="3246120"/>
            <a:ext cx="146304" cy="1325880"/>
          </a:xfrm>
          <a:prstGeom prst="rect">
            <a:avLst/>
          </a:prstGeom>
          <a:solidFill>
            <a:srgbClr val="2F7DD1"/>
          </a:solidFill>
          <a:ln/>
        </p:spPr>
      </p:sp>
      <p:sp>
        <p:nvSpPr>
          <p:cNvPr id="11" name="Text 9"/>
          <p:cNvSpPr/>
          <p:nvPr/>
        </p:nvSpPr>
        <p:spPr>
          <a:xfrm>
            <a:off x="1188720" y="3410712"/>
            <a:ext cx="10058400" cy="411480"/>
          </a:xfrm>
          <a:prstGeom prst="rect">
            <a:avLst/>
          </a:prstGeom>
          <a:noFill/>
          <a:ln/>
        </p:spPr>
        <p:txBody>
          <a:bodyPr wrap="square" lIns="0" tIns="0" rIns="0" bIns="0" rtlCol="0" anchor="ctr"/>
          <a:lstStyle/>
          <a:p>
            <a:pPr indent="0" marL="0">
              <a:buNone/>
            </a:pPr>
            <a:r>
              <a:rPr lang="en-US" sz="1600" b="1" dirty="0">
                <a:solidFill>
                  <a:srgbClr val="2D2D2D"/>
                </a:solidFill>
                <a:latin typeface="Meiryo" pitchFamily="34" charset="0"/>
                <a:ea typeface="Meiryo" pitchFamily="34" charset="-122"/>
                <a:cs typeface="Meiryo" pitchFamily="34" charset="-120"/>
              </a:rPr>
              <a:t>iPhoneのHEIC写真</a:t>
            </a:r>
            <a:endParaRPr lang="en-US" sz="1600" dirty="0"/>
          </a:p>
        </p:txBody>
      </p:sp>
      <p:sp>
        <p:nvSpPr>
          <p:cNvPr id="12" name="Text 10"/>
          <p:cNvSpPr/>
          <p:nvPr/>
        </p:nvSpPr>
        <p:spPr>
          <a:xfrm>
            <a:off x="1188720" y="3867912"/>
            <a:ext cx="9966960" cy="548640"/>
          </a:xfrm>
          <a:prstGeom prst="rect">
            <a:avLst/>
          </a:prstGeom>
          <a:noFill/>
          <a:ln/>
        </p:spPr>
        <p:txBody>
          <a:bodyPr wrap="square" lIns="0" tIns="0" rIns="0" bIns="0" rtlCol="0" anchor="ctr"/>
          <a:lstStyle/>
          <a:p>
            <a:pPr indent="0" marL="0">
              <a:buNone/>
            </a:pPr>
            <a:r>
              <a:rPr lang="en-US" sz="1350" dirty="0">
                <a:solidFill>
                  <a:srgbClr val="70757A"/>
                </a:solidFill>
                <a:latin typeface="Meiryo" pitchFamily="34" charset="0"/>
                <a:ea typeface="Meiryo" pitchFamily="34" charset="-122"/>
                <a:cs typeface="Meiryo" pitchFamily="34" charset="-120"/>
              </a:rPr>
              <a:t>アップロードできない → サーバー側で自動的にJPEGへ変換して対応</a:t>
            </a:r>
            <a:endParaRPr lang="en-US" sz="1350" dirty="0"/>
          </a:p>
        </p:txBody>
      </p:sp>
      <p:sp>
        <p:nvSpPr>
          <p:cNvPr id="13" name="Shape 11"/>
          <p:cNvSpPr/>
          <p:nvPr/>
        </p:nvSpPr>
        <p:spPr>
          <a:xfrm>
            <a:off x="868680" y="4709160"/>
            <a:ext cx="10469880" cy="1325880"/>
          </a:xfrm>
          <a:prstGeom prst="roundRect">
            <a:avLst>
              <a:gd name="adj" fmla="val 6897"/>
            </a:avLst>
          </a:prstGeom>
          <a:solidFill>
            <a:srgbClr val="F4F6F6"/>
          </a:solidFill>
          <a:ln/>
        </p:spPr>
      </p:sp>
      <p:sp>
        <p:nvSpPr>
          <p:cNvPr id="14" name="Shape 12"/>
          <p:cNvSpPr/>
          <p:nvPr/>
        </p:nvSpPr>
        <p:spPr>
          <a:xfrm>
            <a:off x="868680" y="4709160"/>
            <a:ext cx="146304" cy="1325880"/>
          </a:xfrm>
          <a:prstGeom prst="rect">
            <a:avLst/>
          </a:prstGeom>
          <a:solidFill>
            <a:srgbClr val="2FA15A"/>
          </a:solidFill>
          <a:ln/>
        </p:spPr>
      </p:sp>
      <p:sp>
        <p:nvSpPr>
          <p:cNvPr id="15" name="Text 13"/>
          <p:cNvSpPr/>
          <p:nvPr/>
        </p:nvSpPr>
        <p:spPr>
          <a:xfrm>
            <a:off x="1188720" y="4873752"/>
            <a:ext cx="10058400" cy="411480"/>
          </a:xfrm>
          <a:prstGeom prst="rect">
            <a:avLst/>
          </a:prstGeom>
          <a:noFill/>
          <a:ln/>
        </p:spPr>
        <p:txBody>
          <a:bodyPr wrap="square" lIns="0" tIns="0" rIns="0" bIns="0" rtlCol="0" anchor="ctr"/>
          <a:lstStyle/>
          <a:p>
            <a:pPr indent="0" marL="0">
              <a:buNone/>
            </a:pPr>
            <a:r>
              <a:rPr lang="en-US" sz="1600" b="1" dirty="0">
                <a:solidFill>
                  <a:srgbClr val="2D2D2D"/>
                </a:solidFill>
                <a:latin typeface="Meiryo" pitchFamily="34" charset="0"/>
                <a:ea typeface="Meiryo" pitchFamily="34" charset="-122"/>
                <a:cs typeface="Meiryo" pitchFamily="34" charset="-120"/>
              </a:rPr>
              <a:t>天気データの抜け</a:t>
            </a:r>
            <a:endParaRPr lang="en-US" sz="1600" dirty="0"/>
          </a:p>
        </p:txBody>
      </p:sp>
      <p:sp>
        <p:nvSpPr>
          <p:cNvPr id="16" name="Text 14"/>
          <p:cNvSpPr/>
          <p:nvPr/>
        </p:nvSpPr>
        <p:spPr>
          <a:xfrm>
            <a:off x="1188720" y="5330952"/>
            <a:ext cx="9966960" cy="548640"/>
          </a:xfrm>
          <a:prstGeom prst="rect">
            <a:avLst/>
          </a:prstGeom>
          <a:noFill/>
          <a:ln/>
        </p:spPr>
        <p:txBody>
          <a:bodyPr wrap="square" lIns="0" tIns="0" rIns="0" bIns="0" rtlCol="0" anchor="ctr"/>
          <a:lstStyle/>
          <a:p>
            <a:pPr indent="0" marL="0">
              <a:buNone/>
            </a:pPr>
            <a:r>
              <a:rPr lang="en-US" sz="1350" dirty="0">
                <a:solidFill>
                  <a:srgbClr val="70757A"/>
                </a:solidFill>
                <a:latin typeface="Meiryo" pitchFamily="34" charset="0"/>
                <a:ea typeface="Meiryo" pitchFamily="34" charset="-122"/>
                <a:cs typeface="Meiryo" pitchFamily="34" charset="-120"/>
              </a:rPr>
              <a:t>PCの稼働時間に左右されて欠ける → 1日1回まとめて取得し、抜けた日もさかのぼり補完</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2483D"/>
        </a:solidFill>
      </p:bgPr>
    </p:bg>
    <p:spTree>
      <p:nvGrpSpPr>
        <p:cNvPr id="1" name=""/>
        <p:cNvGrpSpPr/>
        <p:nvPr/>
      </p:nvGrpSpPr>
      <p:grpSpPr>
        <a:xfrm>
          <a:off x="0" y="0"/>
          <a:ext cx="0" cy="0"/>
          <a:chOff x="0" y="0"/>
          <a:chExt cx="0" cy="0"/>
        </a:xfrm>
      </p:grpSpPr>
      <p:sp>
        <p:nvSpPr>
          <p:cNvPr id="2" name="Text 0"/>
          <p:cNvSpPr/>
          <p:nvPr/>
        </p:nvSpPr>
        <p:spPr>
          <a:xfrm>
            <a:off x="914400" y="2468880"/>
            <a:ext cx="10332720" cy="914400"/>
          </a:xfrm>
          <a:prstGeom prst="rect">
            <a:avLst/>
          </a:prstGeom>
          <a:noFill/>
          <a:ln/>
        </p:spPr>
        <p:txBody>
          <a:bodyPr wrap="square" lIns="0" tIns="0" rIns="0" bIns="0" rtlCol="0" anchor="ctr"/>
          <a:lstStyle/>
          <a:p>
            <a:pPr indent="0" marL="0">
              <a:buNone/>
            </a:pPr>
            <a:r>
              <a:rPr lang="en-US" sz="3800" b="1" dirty="0">
                <a:solidFill>
                  <a:srgbClr val="FFFFFF"/>
                </a:solidFill>
                <a:latin typeface="Meiryo" pitchFamily="34" charset="0"/>
                <a:ea typeface="Meiryo" pitchFamily="34" charset="-122"/>
                <a:cs typeface="Meiryo" pitchFamily="34" charset="-120"/>
              </a:rPr>
              <a:t>後期・今後の取り組み</a:t>
            </a:r>
            <a:endParaRPr lang="en-US" sz="3800" dirty="0"/>
          </a:p>
        </p:txBody>
      </p:sp>
      <p:sp>
        <p:nvSpPr>
          <p:cNvPr id="3" name="Text 1"/>
          <p:cNvSpPr/>
          <p:nvPr/>
        </p:nvSpPr>
        <p:spPr>
          <a:xfrm>
            <a:off x="941832" y="3566160"/>
            <a:ext cx="10332720" cy="548640"/>
          </a:xfrm>
          <a:prstGeom prst="rect">
            <a:avLst/>
          </a:prstGeom>
          <a:noFill/>
          <a:ln/>
        </p:spPr>
        <p:txBody>
          <a:bodyPr wrap="square" lIns="0" tIns="0" rIns="0" bIns="0" rtlCol="0" anchor="ctr"/>
          <a:lstStyle/>
          <a:p>
            <a:pPr indent="0" marL="0">
              <a:buNone/>
            </a:pPr>
            <a:r>
              <a:rPr lang="en-US" sz="1800" dirty="0">
                <a:solidFill>
                  <a:srgbClr val="FBDAD7"/>
                </a:solidFill>
                <a:latin typeface="Meiryo" pitchFamily="34" charset="0"/>
                <a:ea typeface="Meiryo" pitchFamily="34" charset="-122"/>
                <a:cs typeface="Meiryo" pitchFamily="34" charset="-120"/>
              </a:rPr>
              <a:t>ためたデータで、糖度と収穫量を高める</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182880" cy="384048"/>
          </a:xfrm>
          <a:prstGeom prst="rect">
            <a:avLst/>
          </a:prstGeom>
          <a:solidFill>
            <a:srgbClr val="E2483D"/>
          </a:solidFill>
          <a:ln/>
        </p:spPr>
      </p:sp>
      <p:sp>
        <p:nvSpPr>
          <p:cNvPr id="3" name="Text 1"/>
          <p:cNvSpPr/>
          <p:nvPr/>
        </p:nvSpPr>
        <p:spPr>
          <a:xfrm>
            <a:off x="868680" y="393192"/>
            <a:ext cx="10607040" cy="640080"/>
          </a:xfrm>
          <a:prstGeom prst="rect">
            <a:avLst/>
          </a:prstGeom>
          <a:noFill/>
          <a:ln/>
        </p:spPr>
        <p:txBody>
          <a:bodyPr wrap="square" lIns="0" tIns="0" rIns="0" bIns="0" rtlCol="0" anchor="ctr"/>
          <a:lstStyle/>
          <a:p>
            <a:pPr indent="0" marL="0">
              <a:buNone/>
            </a:pPr>
            <a:r>
              <a:rPr lang="en-US" sz="2900" b="1" dirty="0">
                <a:solidFill>
                  <a:srgbClr val="2D2D2D"/>
                </a:solidFill>
                <a:latin typeface="Meiryo" pitchFamily="34" charset="0"/>
                <a:ea typeface="Meiryo" pitchFamily="34" charset="-122"/>
                <a:cs typeface="Meiryo" pitchFamily="34" charset="-120"/>
              </a:rPr>
              <a:t>後期の目標</a:t>
            </a:r>
            <a:endParaRPr lang="en-US" sz="2900" dirty="0"/>
          </a:p>
        </p:txBody>
      </p:sp>
      <p:sp>
        <p:nvSpPr>
          <p:cNvPr id="4" name="Text 2"/>
          <p:cNvSpPr/>
          <p:nvPr/>
        </p:nvSpPr>
        <p:spPr>
          <a:xfrm>
            <a:off x="886968" y="1024128"/>
            <a:ext cx="10607040" cy="365760"/>
          </a:xfrm>
          <a:prstGeom prst="rect">
            <a:avLst/>
          </a:prstGeom>
          <a:noFill/>
          <a:ln/>
        </p:spPr>
        <p:txBody>
          <a:bodyPr wrap="square" lIns="0" tIns="0" rIns="0" bIns="0" rtlCol="0" anchor="ctr"/>
          <a:lstStyle/>
          <a:p>
            <a:pPr indent="0" marL="0">
              <a:buNone/>
            </a:pPr>
            <a:r>
              <a:rPr lang="en-US" sz="1350" dirty="0">
                <a:solidFill>
                  <a:srgbClr val="70757A"/>
                </a:solidFill>
                <a:latin typeface="Meiryo" pitchFamily="34" charset="0"/>
                <a:ea typeface="Meiryo" pitchFamily="34" charset="-122"/>
                <a:cs typeface="Meiryo" pitchFamily="34" charset="-120"/>
              </a:rPr>
              <a:t>基盤の上に「予測・分析」を加える</a:t>
            </a:r>
            <a:endParaRPr lang="en-US" sz="1350" dirty="0"/>
          </a:p>
        </p:txBody>
      </p:sp>
      <p:sp>
        <p:nvSpPr>
          <p:cNvPr id="5" name="Shape 3"/>
          <p:cNvSpPr/>
          <p:nvPr/>
        </p:nvSpPr>
        <p:spPr>
          <a:xfrm>
            <a:off x="868680" y="1828800"/>
            <a:ext cx="10469880" cy="1280160"/>
          </a:xfrm>
          <a:prstGeom prst="roundRect">
            <a:avLst>
              <a:gd name="adj" fmla="val 7143"/>
            </a:avLst>
          </a:prstGeom>
          <a:solidFill>
            <a:srgbClr val="2FA15A"/>
          </a:solidFill>
          <a:ln/>
        </p:spPr>
      </p:sp>
      <p:sp>
        <p:nvSpPr>
          <p:cNvPr id="6" name="Text 4"/>
          <p:cNvSpPr/>
          <p:nvPr/>
        </p:nvSpPr>
        <p:spPr>
          <a:xfrm>
            <a:off x="1143000" y="1828800"/>
            <a:ext cx="9966960" cy="1280160"/>
          </a:xfrm>
          <a:prstGeom prst="rect">
            <a:avLst/>
          </a:prstGeom>
          <a:noFill/>
          <a:ln/>
        </p:spPr>
        <p:txBody>
          <a:bodyPr wrap="square" lIns="0" tIns="0" rIns="0" bIns="0" rtlCol="0" anchor="ctr"/>
          <a:lstStyle/>
          <a:p>
            <a:pPr indent="0" marL="0">
              <a:lnSpc>
                <a:spcPct val="110000"/>
              </a:lnSpc>
              <a:buNone/>
            </a:pPr>
            <a:r>
              <a:rPr lang="en-US" sz="1800" b="1" dirty="0">
                <a:solidFill>
                  <a:srgbClr val="FFFFFF"/>
                </a:solidFill>
                <a:latin typeface="Meiryo" pitchFamily="34" charset="0"/>
                <a:ea typeface="Meiryo" pitchFamily="34" charset="-122"/>
                <a:cs typeface="Meiryo" pitchFamily="34" charset="-120"/>
              </a:rPr>
              <a:t>集めたデータで「糖度と収穫量を高める育て方の条件」を機械学習で見つける</a:t>
            </a:r>
            <a:endParaRPr lang="en-US" sz="1800" dirty="0"/>
          </a:p>
        </p:txBody>
      </p:sp>
      <p:sp>
        <p:nvSpPr>
          <p:cNvPr id="7" name="Text 5"/>
          <p:cNvSpPr/>
          <p:nvPr/>
        </p:nvSpPr>
        <p:spPr>
          <a:xfrm>
            <a:off x="886968" y="3474720"/>
            <a:ext cx="10424160" cy="1828800"/>
          </a:xfrm>
          <a:prstGeom prst="rect">
            <a:avLst/>
          </a:prstGeom>
          <a:noFill/>
          <a:ln/>
        </p:spPr>
        <p:txBody>
          <a:bodyPr wrap="square" lIns="0" tIns="0" rIns="0" bIns="0" rtlCol="0" anchor="ctr"/>
          <a:lstStyle/>
          <a:p>
            <a:pPr indent="0" marL="0">
              <a:lnSpc>
                <a:spcPct val="130000"/>
              </a:lnSpc>
              <a:spcAft>
                <a:spcPts val="1000"/>
              </a:spcAft>
              <a:buNone/>
            </a:pPr>
            <a:r>
              <a:rPr lang="en-US" sz="1500" b="1" dirty="0">
                <a:solidFill>
                  <a:srgbClr val="2D2D2D"/>
                </a:solidFill>
                <a:latin typeface="Meiryo" pitchFamily="34" charset="0"/>
                <a:ea typeface="Meiryo" pitchFamily="34" charset="-122"/>
                <a:cs typeface="Meiryo" pitchFamily="34" charset="-120"/>
              </a:rPr>
              <a:t>前期：</a:t>
            </a:r>
            <a:pPr indent="0" marL="0">
              <a:lnSpc>
                <a:spcPct val="130000"/>
              </a:lnSpc>
              <a:spcAft>
                <a:spcPts val="1000"/>
              </a:spcAft>
              <a:buNone/>
            </a:pPr>
            <a:r>
              <a:rPr lang="en-US" sz="1500" dirty="0">
                <a:solidFill>
                  <a:srgbClr val="70757A"/>
                </a:solidFill>
                <a:latin typeface="Meiryo" pitchFamily="34" charset="0"/>
                <a:ea typeface="Meiryo" pitchFamily="34" charset="-122"/>
                <a:cs typeface="Meiryo" pitchFamily="34" charset="-120"/>
              </a:rPr>
              <a:t>「測る・ためる・見せる」の基盤を構築</a:t>
            </a:r>
            <a:endParaRPr lang="en-US" sz="1500" dirty="0"/>
          </a:p>
          <a:p>
            <a:pPr indent="0" marL="0">
              <a:lnSpc>
                <a:spcPct val="130000"/>
              </a:lnSpc>
              <a:spcAft>
                <a:spcPts val="1000"/>
              </a:spcAft>
              <a:buNone/>
            </a:pPr>
            <a:r>
              <a:rPr lang="en-US" sz="1500" b="1" dirty="0">
                <a:solidFill>
                  <a:srgbClr val="2D2D2D"/>
                </a:solidFill>
                <a:latin typeface="Meiryo" pitchFamily="34" charset="0"/>
                <a:ea typeface="Meiryo" pitchFamily="34" charset="-122"/>
                <a:cs typeface="Meiryo" pitchFamily="34" charset="-120"/>
              </a:rPr>
              <a:t>後期：</a:t>
            </a:r>
            <a:pPr indent="0" marL="0">
              <a:lnSpc>
                <a:spcPct val="130000"/>
              </a:lnSpc>
              <a:spcAft>
                <a:spcPts val="1000"/>
              </a:spcAft>
              <a:buNone/>
            </a:pPr>
            <a:r>
              <a:rPr lang="en-US" sz="1500" dirty="0">
                <a:solidFill>
                  <a:srgbClr val="70757A"/>
                </a:solidFill>
                <a:latin typeface="Meiryo" pitchFamily="34" charset="0"/>
                <a:ea typeface="Meiryo" pitchFamily="34" charset="-122"/>
                <a:cs typeface="Meiryo" pitchFamily="34" charset="-120"/>
              </a:rPr>
              <a:t>そこに「予測・分析する」を追加し、どんな条件で糖度・収穫量が高くなるかを明らかにする</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182880" cy="384048"/>
          </a:xfrm>
          <a:prstGeom prst="rect">
            <a:avLst/>
          </a:prstGeom>
          <a:solidFill>
            <a:srgbClr val="E2483D"/>
          </a:solidFill>
          <a:ln/>
        </p:spPr>
      </p:sp>
      <p:sp>
        <p:nvSpPr>
          <p:cNvPr id="3" name="Text 1"/>
          <p:cNvSpPr/>
          <p:nvPr/>
        </p:nvSpPr>
        <p:spPr>
          <a:xfrm>
            <a:off x="868680" y="393192"/>
            <a:ext cx="10607040" cy="640080"/>
          </a:xfrm>
          <a:prstGeom prst="rect">
            <a:avLst/>
          </a:prstGeom>
          <a:noFill/>
          <a:ln/>
        </p:spPr>
        <p:txBody>
          <a:bodyPr wrap="square" lIns="0" tIns="0" rIns="0" bIns="0" rtlCol="0" anchor="ctr"/>
          <a:lstStyle/>
          <a:p>
            <a:pPr indent="0" marL="0">
              <a:buNone/>
            </a:pPr>
            <a:r>
              <a:rPr lang="en-US" sz="2900" b="1" dirty="0">
                <a:solidFill>
                  <a:srgbClr val="2D2D2D"/>
                </a:solidFill>
                <a:latin typeface="Meiryo" pitchFamily="34" charset="0"/>
                <a:ea typeface="Meiryo" pitchFamily="34" charset="-122"/>
                <a:cs typeface="Meiryo" pitchFamily="34" charset="-120"/>
              </a:rPr>
              <a:t>なぜ機械学習を使うのか</a:t>
            </a:r>
            <a:endParaRPr lang="en-US" sz="2900" dirty="0"/>
          </a:p>
        </p:txBody>
      </p:sp>
      <p:sp>
        <p:nvSpPr>
          <p:cNvPr id="4" name="Text 2"/>
          <p:cNvSpPr/>
          <p:nvPr/>
        </p:nvSpPr>
        <p:spPr>
          <a:xfrm>
            <a:off x="886968" y="1024128"/>
            <a:ext cx="10607040" cy="365760"/>
          </a:xfrm>
          <a:prstGeom prst="rect">
            <a:avLst/>
          </a:prstGeom>
          <a:noFill/>
          <a:ln/>
        </p:spPr>
        <p:txBody>
          <a:bodyPr wrap="square" lIns="0" tIns="0" rIns="0" bIns="0" rtlCol="0" anchor="ctr"/>
          <a:lstStyle/>
          <a:p>
            <a:pPr indent="0" marL="0">
              <a:buNone/>
            </a:pPr>
            <a:r>
              <a:rPr lang="en-US" sz="1350" dirty="0">
                <a:solidFill>
                  <a:srgbClr val="70757A"/>
                </a:solidFill>
                <a:latin typeface="Meiryo" pitchFamily="34" charset="0"/>
                <a:ea typeface="Meiryo" pitchFamily="34" charset="-122"/>
                <a:cs typeface="Meiryo" pitchFamily="34" charset="-120"/>
              </a:rPr>
              <a:t>糖度と収穫量は単純に両立しない</a:t>
            </a:r>
            <a:endParaRPr lang="en-US" sz="1350" dirty="0"/>
          </a:p>
        </p:txBody>
      </p:sp>
      <p:sp>
        <p:nvSpPr>
          <p:cNvPr id="5" name="Shape 3"/>
          <p:cNvSpPr/>
          <p:nvPr/>
        </p:nvSpPr>
        <p:spPr>
          <a:xfrm>
            <a:off x="868680" y="1874520"/>
            <a:ext cx="5074920" cy="1554480"/>
          </a:xfrm>
          <a:prstGeom prst="roundRect">
            <a:avLst>
              <a:gd name="adj" fmla="val 5882"/>
            </a:avLst>
          </a:prstGeom>
          <a:solidFill>
            <a:srgbClr val="FCEEEC"/>
          </a:solidFill>
          <a:ln/>
        </p:spPr>
      </p:sp>
      <p:sp>
        <p:nvSpPr>
          <p:cNvPr id="6" name="Text 4"/>
          <p:cNvSpPr/>
          <p:nvPr/>
        </p:nvSpPr>
        <p:spPr>
          <a:xfrm>
            <a:off x="1097280" y="1874520"/>
            <a:ext cx="4663440" cy="1554480"/>
          </a:xfrm>
          <a:prstGeom prst="rect">
            <a:avLst/>
          </a:prstGeom>
          <a:noFill/>
          <a:ln/>
        </p:spPr>
        <p:txBody>
          <a:bodyPr wrap="square" lIns="0" tIns="0" rIns="0" bIns="0" rtlCol="0" anchor="ctr"/>
          <a:lstStyle/>
          <a:p>
            <a:pPr algn="ctr" indent="0" marL="0">
              <a:buNone/>
            </a:pPr>
            <a:r>
              <a:rPr lang="en-US" sz="2000" b="1" dirty="0">
                <a:solidFill>
                  <a:srgbClr val="2D2D2D"/>
                </a:solidFill>
                <a:latin typeface="Meiryo" pitchFamily="34" charset="0"/>
                <a:ea typeface="Meiryo" pitchFamily="34" charset="-122"/>
                <a:cs typeface="Meiryo" pitchFamily="34" charset="-120"/>
              </a:rPr>
              <a:t>水を絞ると  </a:t>
            </a:r>
            <a:pPr algn="ctr" indent="0" marL="0">
              <a:buNone/>
            </a:pPr>
            <a:r>
              <a:rPr lang="en-US" sz="2000" b="1" dirty="0">
                <a:solidFill>
                  <a:srgbClr val="E2483D"/>
                </a:solidFill>
                <a:latin typeface="Meiryo" pitchFamily="34" charset="0"/>
                <a:ea typeface="Meiryo" pitchFamily="34" charset="-122"/>
                <a:cs typeface="Meiryo" pitchFamily="34" charset="-120"/>
              </a:rPr>
              <a:t>糖度 ↑</a:t>
            </a:r>
            <a:endParaRPr lang="en-US" sz="2000" dirty="0"/>
          </a:p>
        </p:txBody>
      </p:sp>
      <p:sp>
        <p:nvSpPr>
          <p:cNvPr id="7" name="Shape 5"/>
          <p:cNvSpPr/>
          <p:nvPr/>
        </p:nvSpPr>
        <p:spPr>
          <a:xfrm>
            <a:off x="6263640" y="1874520"/>
            <a:ext cx="5074920" cy="1554480"/>
          </a:xfrm>
          <a:prstGeom prst="roundRect">
            <a:avLst>
              <a:gd name="adj" fmla="val 5882"/>
            </a:avLst>
          </a:prstGeom>
          <a:solidFill>
            <a:srgbClr val="F4F6F6"/>
          </a:solidFill>
          <a:ln/>
        </p:spPr>
      </p:sp>
      <p:sp>
        <p:nvSpPr>
          <p:cNvPr id="8" name="Text 6"/>
          <p:cNvSpPr/>
          <p:nvPr/>
        </p:nvSpPr>
        <p:spPr>
          <a:xfrm>
            <a:off x="6492240" y="1874520"/>
            <a:ext cx="4663440" cy="1554480"/>
          </a:xfrm>
          <a:prstGeom prst="rect">
            <a:avLst/>
          </a:prstGeom>
          <a:noFill/>
          <a:ln/>
        </p:spPr>
        <p:txBody>
          <a:bodyPr wrap="square" lIns="0" tIns="0" rIns="0" bIns="0" rtlCol="0" anchor="ctr"/>
          <a:lstStyle/>
          <a:p>
            <a:pPr algn="ctr" indent="0" marL="0">
              <a:buNone/>
            </a:pPr>
            <a:r>
              <a:rPr lang="en-US" sz="2000" b="1" dirty="0">
                <a:solidFill>
                  <a:srgbClr val="2D2D2D"/>
                </a:solidFill>
                <a:latin typeface="Meiryo" pitchFamily="34" charset="0"/>
                <a:ea typeface="Meiryo" pitchFamily="34" charset="-122"/>
                <a:cs typeface="Meiryo" pitchFamily="34" charset="-120"/>
              </a:rPr>
              <a:t>同時に  </a:t>
            </a:r>
            <a:pPr algn="ctr" indent="0" marL="0">
              <a:buNone/>
            </a:pPr>
            <a:r>
              <a:rPr lang="en-US" sz="2000" b="1" dirty="0">
                <a:solidFill>
                  <a:srgbClr val="2F7DD1"/>
                </a:solidFill>
                <a:latin typeface="Meiryo" pitchFamily="34" charset="0"/>
                <a:ea typeface="Meiryo" pitchFamily="34" charset="-122"/>
                <a:cs typeface="Meiryo" pitchFamily="34" charset="-120"/>
              </a:rPr>
              <a:t>収穫量・サイズ ↓</a:t>
            </a:r>
            <a:endParaRPr lang="en-US" sz="2000" dirty="0"/>
          </a:p>
        </p:txBody>
      </p:sp>
      <p:sp>
        <p:nvSpPr>
          <p:cNvPr id="9" name="Text 7"/>
          <p:cNvSpPr/>
          <p:nvPr/>
        </p:nvSpPr>
        <p:spPr>
          <a:xfrm>
            <a:off x="886968" y="3749040"/>
            <a:ext cx="10424160" cy="731520"/>
          </a:xfrm>
          <a:prstGeom prst="rect">
            <a:avLst/>
          </a:prstGeom>
          <a:noFill/>
          <a:ln/>
        </p:spPr>
        <p:txBody>
          <a:bodyPr wrap="square" lIns="0" tIns="0" rIns="0" bIns="0" rtlCol="0" anchor="ctr"/>
          <a:lstStyle/>
          <a:p>
            <a:pPr indent="0" marL="0">
              <a:lnSpc>
                <a:spcPct val="115000"/>
              </a:lnSpc>
              <a:buNone/>
            </a:pPr>
            <a:r>
              <a:rPr lang="en-US" sz="1500" dirty="0">
                <a:solidFill>
                  <a:srgbClr val="2D2D2D"/>
                </a:solidFill>
                <a:latin typeface="Meiryo" pitchFamily="34" charset="0"/>
                <a:ea typeface="Meiryo" pitchFamily="34" charset="-122"/>
                <a:cs typeface="Meiryo" pitchFamily="34" charset="-120"/>
              </a:rPr>
              <a:t>相反する関係。人が表計算で一つずつ見ても、複数の要因が絡む最適なバランスは見つけにくい。</a:t>
            </a:r>
            <a:endParaRPr lang="en-US" sz="1500" dirty="0"/>
          </a:p>
        </p:txBody>
      </p:sp>
      <p:sp>
        <p:nvSpPr>
          <p:cNvPr id="10" name="Shape 8"/>
          <p:cNvSpPr/>
          <p:nvPr/>
        </p:nvSpPr>
        <p:spPr>
          <a:xfrm>
            <a:off x="868680" y="4663440"/>
            <a:ext cx="10469880" cy="1005840"/>
          </a:xfrm>
          <a:prstGeom prst="roundRect">
            <a:avLst>
              <a:gd name="adj" fmla="val 9091"/>
            </a:avLst>
          </a:prstGeom>
          <a:solidFill>
            <a:srgbClr val="2FA15A"/>
          </a:solidFill>
          <a:ln/>
        </p:spPr>
      </p:sp>
      <p:sp>
        <p:nvSpPr>
          <p:cNvPr id="11" name="Text 9"/>
          <p:cNvSpPr/>
          <p:nvPr/>
        </p:nvSpPr>
        <p:spPr>
          <a:xfrm>
            <a:off x="1143000" y="4663440"/>
            <a:ext cx="9966960" cy="1005840"/>
          </a:xfrm>
          <a:prstGeom prst="rect">
            <a:avLst/>
          </a:prstGeom>
          <a:noFill/>
          <a:ln/>
        </p:spPr>
        <p:txBody>
          <a:bodyPr wrap="square" lIns="0" tIns="0" rIns="0" bIns="0" rtlCol="0" anchor="ctr"/>
          <a:lstStyle/>
          <a:p>
            <a:pPr indent="0" marL="0">
              <a:buNone/>
            </a:pPr>
            <a:r>
              <a:rPr lang="en-US" sz="1550" b="1" dirty="0">
                <a:solidFill>
                  <a:srgbClr val="FFFFFF"/>
                </a:solidFill>
                <a:latin typeface="Meiryo" pitchFamily="34" charset="0"/>
                <a:ea typeface="Meiryo" pitchFamily="34" charset="-122"/>
                <a:cs typeface="Meiryo" pitchFamily="34" charset="-120"/>
              </a:rPr>
              <a:t>→ 複数データをまとめて学習させ、両方のバランスが良い条件を探す ＝ 機械学習を使う意味</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182880" cy="384048"/>
          </a:xfrm>
          <a:prstGeom prst="rect">
            <a:avLst/>
          </a:prstGeom>
          <a:solidFill>
            <a:srgbClr val="E2483D"/>
          </a:solidFill>
          <a:ln/>
        </p:spPr>
      </p:sp>
      <p:sp>
        <p:nvSpPr>
          <p:cNvPr id="3" name="Text 1"/>
          <p:cNvSpPr/>
          <p:nvPr/>
        </p:nvSpPr>
        <p:spPr>
          <a:xfrm>
            <a:off x="868680" y="393192"/>
            <a:ext cx="10607040" cy="640080"/>
          </a:xfrm>
          <a:prstGeom prst="rect">
            <a:avLst/>
          </a:prstGeom>
          <a:noFill/>
          <a:ln/>
        </p:spPr>
        <p:txBody>
          <a:bodyPr wrap="square" lIns="0" tIns="0" rIns="0" bIns="0" rtlCol="0" anchor="ctr"/>
          <a:lstStyle/>
          <a:p>
            <a:pPr indent="0" marL="0">
              <a:buNone/>
            </a:pPr>
            <a:r>
              <a:rPr lang="en-US" sz="2900" b="1" dirty="0">
                <a:solidFill>
                  <a:srgbClr val="2D2D2D"/>
                </a:solidFill>
                <a:latin typeface="Meiryo" pitchFamily="34" charset="0"/>
                <a:ea typeface="Meiryo" pitchFamily="34" charset="-122"/>
                <a:cs typeface="Meiryo" pitchFamily="34" charset="-120"/>
              </a:rPr>
              <a:t>使うデータ</a:t>
            </a:r>
            <a:endParaRPr lang="en-US" sz="2900" dirty="0"/>
          </a:p>
        </p:txBody>
      </p:sp>
      <p:sp>
        <p:nvSpPr>
          <p:cNvPr id="4" name="Text 2"/>
          <p:cNvSpPr/>
          <p:nvPr/>
        </p:nvSpPr>
        <p:spPr>
          <a:xfrm>
            <a:off x="886968" y="1024128"/>
            <a:ext cx="10607040" cy="365760"/>
          </a:xfrm>
          <a:prstGeom prst="rect">
            <a:avLst/>
          </a:prstGeom>
          <a:noFill/>
          <a:ln/>
        </p:spPr>
        <p:txBody>
          <a:bodyPr wrap="square" lIns="0" tIns="0" rIns="0" bIns="0" rtlCol="0" anchor="ctr"/>
          <a:lstStyle/>
          <a:p>
            <a:pPr indent="0" marL="0">
              <a:buNone/>
            </a:pPr>
            <a:r>
              <a:rPr lang="en-US" sz="1350" dirty="0">
                <a:solidFill>
                  <a:srgbClr val="70757A"/>
                </a:solidFill>
                <a:latin typeface="Meiryo" pitchFamily="34" charset="0"/>
                <a:ea typeface="Meiryo" pitchFamily="34" charset="-122"/>
                <a:cs typeface="Meiryo" pitchFamily="34" charset="-120"/>
              </a:rPr>
              <a:t>前期で既に取れているものを使う（追加収集なし）</a:t>
            </a:r>
            <a:endParaRPr lang="en-US" sz="1350" dirty="0"/>
          </a:p>
        </p:txBody>
      </p:sp>
      <p:sp>
        <p:nvSpPr>
          <p:cNvPr id="5" name="Shape 3"/>
          <p:cNvSpPr/>
          <p:nvPr/>
        </p:nvSpPr>
        <p:spPr>
          <a:xfrm>
            <a:off x="868680" y="1828800"/>
            <a:ext cx="5074920" cy="3566160"/>
          </a:xfrm>
          <a:prstGeom prst="roundRect">
            <a:avLst>
              <a:gd name="adj" fmla="val 2564"/>
            </a:avLst>
          </a:prstGeom>
          <a:solidFill>
            <a:srgbClr val="FCEEEC"/>
          </a:solidFill>
          <a:ln/>
        </p:spPr>
      </p:sp>
      <p:sp>
        <p:nvSpPr>
          <p:cNvPr id="6" name="Text 4"/>
          <p:cNvSpPr/>
          <p:nvPr/>
        </p:nvSpPr>
        <p:spPr>
          <a:xfrm>
            <a:off x="1188720" y="2057400"/>
            <a:ext cx="4572000" cy="457200"/>
          </a:xfrm>
          <a:prstGeom prst="rect">
            <a:avLst/>
          </a:prstGeom>
          <a:noFill/>
          <a:ln/>
        </p:spPr>
        <p:txBody>
          <a:bodyPr wrap="square" lIns="0" tIns="0" rIns="0" bIns="0" rtlCol="0" anchor="ctr"/>
          <a:lstStyle/>
          <a:p>
            <a:pPr indent="0" marL="0">
              <a:buNone/>
            </a:pPr>
            <a:r>
              <a:rPr lang="en-US" sz="1700" b="1" dirty="0">
                <a:solidFill>
                  <a:srgbClr val="E2483D"/>
                </a:solidFill>
                <a:latin typeface="Meiryo" pitchFamily="34" charset="0"/>
                <a:ea typeface="Meiryo" pitchFamily="34" charset="-122"/>
                <a:cs typeface="Meiryo" pitchFamily="34" charset="-120"/>
              </a:rPr>
              <a:t>出力（予測したい正解）</a:t>
            </a:r>
            <a:endParaRPr lang="en-US" sz="1700" dirty="0"/>
          </a:p>
        </p:txBody>
      </p:sp>
      <p:sp>
        <p:nvSpPr>
          <p:cNvPr id="7" name="Text 5"/>
          <p:cNvSpPr/>
          <p:nvPr/>
        </p:nvSpPr>
        <p:spPr>
          <a:xfrm>
            <a:off x="1234440" y="2697480"/>
            <a:ext cx="4572000" cy="2377440"/>
          </a:xfrm>
          <a:prstGeom prst="rect">
            <a:avLst/>
          </a:prstGeom>
          <a:noFill/>
          <a:ln/>
        </p:spPr>
        <p:txBody>
          <a:bodyPr wrap="square" lIns="0" tIns="0" rIns="0" bIns="0" rtlCol="0" anchor="ctr"/>
          <a:lstStyle/>
          <a:p>
            <a:pPr marL="342900" indent="-342900">
              <a:spcAft>
                <a:spcPts val="1000"/>
              </a:spcAft>
              <a:buSzPct val="100000"/>
              <a:buChar char="•"/>
            </a:pPr>
            <a:r>
              <a:rPr lang="en-US" sz="1500" dirty="0">
                <a:solidFill>
                  <a:srgbClr val="2D2D2D"/>
                </a:solidFill>
                <a:latin typeface="Meiryo" pitchFamily="34" charset="0"/>
                <a:ea typeface="Meiryo" pitchFamily="34" charset="-122"/>
                <a:cs typeface="Meiryo" pitchFamily="34" charset="-120"/>
              </a:rPr>
              <a:t>糖度 (Brix)</a:t>
            </a:r>
            <a:endParaRPr lang="en-US" sz="1500" dirty="0"/>
          </a:p>
          <a:p>
            <a:pPr marL="342900" indent="-342900">
              <a:spcAft>
                <a:spcPts val="1000"/>
              </a:spcAft>
              <a:buSzPct val="100000"/>
              <a:buChar char="•"/>
            </a:pPr>
            <a:r>
              <a:rPr lang="en-US" sz="1500" dirty="0">
                <a:solidFill>
                  <a:srgbClr val="2D2D2D"/>
                </a:solidFill>
                <a:latin typeface="Meiryo" pitchFamily="34" charset="0"/>
                <a:ea typeface="Meiryo" pitchFamily="34" charset="-122"/>
                <a:cs typeface="Meiryo" pitchFamily="34" charset="-120"/>
              </a:rPr>
              <a:t>収穫量（個数・重さ）</a:t>
            </a:r>
            <a:endParaRPr lang="en-US" sz="1500" dirty="0"/>
          </a:p>
        </p:txBody>
      </p:sp>
      <p:sp>
        <p:nvSpPr>
          <p:cNvPr id="8" name="Shape 6"/>
          <p:cNvSpPr/>
          <p:nvPr/>
        </p:nvSpPr>
        <p:spPr>
          <a:xfrm>
            <a:off x="6263640" y="1828800"/>
            <a:ext cx="5074920" cy="3566160"/>
          </a:xfrm>
          <a:prstGeom prst="roundRect">
            <a:avLst>
              <a:gd name="adj" fmla="val 2564"/>
            </a:avLst>
          </a:prstGeom>
          <a:solidFill>
            <a:srgbClr val="F4F6F6"/>
          </a:solidFill>
          <a:ln/>
        </p:spPr>
      </p:sp>
      <p:sp>
        <p:nvSpPr>
          <p:cNvPr id="9" name="Text 7"/>
          <p:cNvSpPr/>
          <p:nvPr/>
        </p:nvSpPr>
        <p:spPr>
          <a:xfrm>
            <a:off x="6583680" y="2057400"/>
            <a:ext cx="4572000" cy="457200"/>
          </a:xfrm>
          <a:prstGeom prst="rect">
            <a:avLst/>
          </a:prstGeom>
          <a:noFill/>
          <a:ln/>
        </p:spPr>
        <p:txBody>
          <a:bodyPr wrap="square" lIns="0" tIns="0" rIns="0" bIns="0" rtlCol="0" anchor="ctr"/>
          <a:lstStyle/>
          <a:p>
            <a:pPr indent="0" marL="0">
              <a:buNone/>
            </a:pPr>
            <a:r>
              <a:rPr lang="en-US" sz="1700" b="1" dirty="0">
                <a:solidFill>
                  <a:srgbClr val="2FA15A"/>
                </a:solidFill>
                <a:latin typeface="Meiryo" pitchFamily="34" charset="0"/>
                <a:ea typeface="Meiryo" pitchFamily="34" charset="-122"/>
                <a:cs typeface="Meiryo" pitchFamily="34" charset="-120"/>
              </a:rPr>
              <a:t>入力（手がかり）</a:t>
            </a:r>
            <a:endParaRPr lang="en-US" sz="1700" dirty="0"/>
          </a:p>
        </p:txBody>
      </p:sp>
      <p:sp>
        <p:nvSpPr>
          <p:cNvPr id="10" name="Text 8"/>
          <p:cNvSpPr/>
          <p:nvPr/>
        </p:nvSpPr>
        <p:spPr>
          <a:xfrm>
            <a:off x="6629400" y="2697480"/>
            <a:ext cx="4572000" cy="2560320"/>
          </a:xfrm>
          <a:prstGeom prst="rect">
            <a:avLst/>
          </a:prstGeom>
          <a:noFill/>
          <a:ln/>
        </p:spPr>
        <p:txBody>
          <a:bodyPr wrap="square" lIns="0" tIns="0" rIns="0" bIns="0" rtlCol="0" anchor="ctr"/>
          <a:lstStyle/>
          <a:p>
            <a:pPr marL="342900" indent="-342900">
              <a:spcAft>
                <a:spcPts val="800"/>
              </a:spcAft>
              <a:buSzPct val="100000"/>
              <a:buChar char="•"/>
            </a:pPr>
            <a:r>
              <a:rPr lang="en-US" sz="1500" dirty="0">
                <a:solidFill>
                  <a:srgbClr val="2D2D2D"/>
                </a:solidFill>
                <a:latin typeface="Meiryo" pitchFamily="34" charset="0"/>
                <a:ea typeface="Meiryo" pitchFamily="34" charset="-122"/>
                <a:cs typeface="Meiryo" pitchFamily="34" charset="-120"/>
              </a:rPr>
              <a:t>土壌水分の平均値</a:t>
            </a:r>
            <a:endParaRPr lang="en-US" sz="1500" dirty="0"/>
          </a:p>
          <a:p>
            <a:pPr marL="342900" indent="-342900">
              <a:spcAft>
                <a:spcPts val="800"/>
              </a:spcAft>
              <a:buSzPct val="100000"/>
              <a:buChar char="•"/>
            </a:pPr>
            <a:r>
              <a:rPr lang="en-US" sz="1500" dirty="0">
                <a:solidFill>
                  <a:srgbClr val="2D2D2D"/>
                </a:solidFill>
                <a:latin typeface="Meiryo" pitchFamily="34" charset="0"/>
                <a:ea typeface="Meiryo" pitchFamily="34" charset="-122"/>
                <a:cs typeface="Meiryo" pitchFamily="34" charset="-120"/>
              </a:rPr>
              <a:t>気温・湿度・日照時間</a:t>
            </a:r>
            <a:endParaRPr lang="en-US" sz="1500" dirty="0"/>
          </a:p>
          <a:p>
            <a:pPr marL="342900" indent="-342900">
              <a:spcAft>
                <a:spcPts val="800"/>
              </a:spcAft>
              <a:buSzPct val="100000"/>
              <a:buChar char="•"/>
            </a:pPr>
            <a:r>
              <a:rPr lang="en-US" sz="1500" dirty="0">
                <a:solidFill>
                  <a:srgbClr val="2D2D2D"/>
                </a:solidFill>
                <a:latin typeface="Meiryo" pitchFamily="34" charset="0"/>
                <a:ea typeface="Meiryo" pitchFamily="34" charset="-122"/>
                <a:cs typeface="Meiryo" pitchFamily="34" charset="-120"/>
              </a:rPr>
              <a:t>前回の水やりからの経過時間</a:t>
            </a:r>
            <a:endParaRPr lang="en-US" sz="1500" dirty="0"/>
          </a:p>
          <a:p>
            <a:pPr marL="342900" indent="-342900">
              <a:spcAft>
                <a:spcPts val="800"/>
              </a:spcAft>
              <a:buSzPct val="100000"/>
              <a:buChar char="•"/>
            </a:pPr>
            <a:r>
              <a:rPr lang="en-US" sz="1500" dirty="0">
                <a:solidFill>
                  <a:srgbClr val="2D2D2D"/>
                </a:solidFill>
                <a:latin typeface="Meiryo" pitchFamily="34" charset="0"/>
                <a:ea typeface="Meiryo" pitchFamily="34" charset="-122"/>
                <a:cs typeface="Meiryo" pitchFamily="34" charset="-120"/>
              </a:rPr>
              <a:t>開花からの累積日照</a:t>
            </a:r>
            <a:endParaRPr lang="en-US" sz="1500" dirty="0"/>
          </a:p>
        </p:txBody>
      </p:sp>
      <p:sp>
        <p:nvSpPr>
          <p:cNvPr id="11" name="Text 9"/>
          <p:cNvSpPr/>
          <p:nvPr/>
        </p:nvSpPr>
        <p:spPr>
          <a:xfrm>
            <a:off x="886968" y="5623560"/>
            <a:ext cx="10424160" cy="457200"/>
          </a:xfrm>
          <a:prstGeom prst="rect">
            <a:avLst/>
          </a:prstGeom>
          <a:noFill/>
          <a:ln/>
        </p:spPr>
        <p:txBody>
          <a:bodyPr wrap="square" lIns="0" tIns="0" rIns="0" bIns="0" rtlCol="0" anchor="ctr"/>
          <a:lstStyle/>
          <a:p>
            <a:pPr indent="0" marL="0">
              <a:buNone/>
            </a:pPr>
            <a:r>
              <a:rPr lang="en-US" sz="1350" i="1" dirty="0">
                <a:solidFill>
                  <a:srgbClr val="70757A"/>
                </a:solidFill>
                <a:latin typeface="Meiryo" pitchFamily="34" charset="0"/>
                <a:ea typeface="Meiryo" pitchFamily="34" charset="-122"/>
                <a:cs typeface="Meiryo" pitchFamily="34" charset="-120"/>
              </a:rPr>
              <a:t>正解も入力もすでに取得済み。あとはデータ量を増やしながらモデルを作る段階。</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182880" cy="384048"/>
          </a:xfrm>
          <a:prstGeom prst="rect">
            <a:avLst/>
          </a:prstGeom>
          <a:solidFill>
            <a:srgbClr val="E2483D"/>
          </a:solidFill>
          <a:ln/>
        </p:spPr>
      </p:sp>
      <p:sp>
        <p:nvSpPr>
          <p:cNvPr id="3" name="Text 1"/>
          <p:cNvSpPr/>
          <p:nvPr/>
        </p:nvSpPr>
        <p:spPr>
          <a:xfrm>
            <a:off x="868680" y="393192"/>
            <a:ext cx="10607040" cy="640080"/>
          </a:xfrm>
          <a:prstGeom prst="rect">
            <a:avLst/>
          </a:prstGeom>
          <a:noFill/>
          <a:ln/>
        </p:spPr>
        <p:txBody>
          <a:bodyPr wrap="square" lIns="0" tIns="0" rIns="0" bIns="0" rtlCol="0" anchor="ctr"/>
          <a:lstStyle/>
          <a:p>
            <a:pPr indent="0" marL="0">
              <a:buNone/>
            </a:pPr>
            <a:r>
              <a:rPr lang="en-US" sz="2900" b="1" dirty="0">
                <a:solidFill>
                  <a:srgbClr val="2D2D2D"/>
                </a:solidFill>
                <a:latin typeface="Meiryo" pitchFamily="34" charset="0"/>
                <a:ea typeface="Meiryo" pitchFamily="34" charset="-122"/>
                <a:cs typeface="Meiryo" pitchFamily="34" charset="-120"/>
              </a:rPr>
              <a:t>正解データが少ないことへの対策</a:t>
            </a:r>
            <a:endParaRPr lang="en-US" sz="2900" dirty="0"/>
          </a:p>
        </p:txBody>
      </p:sp>
      <p:sp>
        <p:nvSpPr>
          <p:cNvPr id="4" name="Text 2"/>
          <p:cNvSpPr/>
          <p:nvPr/>
        </p:nvSpPr>
        <p:spPr>
          <a:xfrm>
            <a:off x="886968" y="1024128"/>
            <a:ext cx="10607040" cy="365760"/>
          </a:xfrm>
          <a:prstGeom prst="rect">
            <a:avLst/>
          </a:prstGeom>
          <a:noFill/>
          <a:ln/>
        </p:spPr>
        <p:txBody>
          <a:bodyPr wrap="square" lIns="0" tIns="0" rIns="0" bIns="0" rtlCol="0" anchor="ctr"/>
          <a:lstStyle/>
          <a:p>
            <a:pPr indent="0" marL="0">
              <a:buNone/>
            </a:pPr>
            <a:r>
              <a:rPr lang="en-US" sz="1350" dirty="0">
                <a:solidFill>
                  <a:srgbClr val="70757A"/>
                </a:solidFill>
                <a:latin typeface="Meiryo" pitchFamily="34" charset="0"/>
                <a:ea typeface="Meiryo" pitchFamily="34" charset="-122"/>
                <a:cs typeface="Meiryo" pitchFamily="34" charset="-120"/>
              </a:rPr>
              <a:t>&lt;100件でも動かすための 3 つの方針</a:t>
            </a:r>
            <a:endParaRPr lang="en-US" sz="1350" dirty="0"/>
          </a:p>
        </p:txBody>
      </p:sp>
      <p:sp>
        <p:nvSpPr>
          <p:cNvPr id="5" name="Shape 3"/>
          <p:cNvSpPr/>
          <p:nvPr/>
        </p:nvSpPr>
        <p:spPr>
          <a:xfrm>
            <a:off x="868680" y="1691640"/>
            <a:ext cx="10469880" cy="868680"/>
          </a:xfrm>
          <a:prstGeom prst="roundRect">
            <a:avLst>
              <a:gd name="adj" fmla="val 8421"/>
            </a:avLst>
          </a:prstGeom>
          <a:solidFill>
            <a:srgbClr val="FCEEEC"/>
          </a:solidFill>
          <a:ln/>
        </p:spPr>
      </p:sp>
      <p:sp>
        <p:nvSpPr>
          <p:cNvPr id="6" name="Text 4"/>
          <p:cNvSpPr/>
          <p:nvPr/>
        </p:nvSpPr>
        <p:spPr>
          <a:xfrm>
            <a:off x="1143000" y="1691640"/>
            <a:ext cx="9966960" cy="868680"/>
          </a:xfrm>
          <a:prstGeom prst="rect">
            <a:avLst/>
          </a:prstGeom>
          <a:noFill/>
          <a:ln/>
        </p:spPr>
        <p:txBody>
          <a:bodyPr wrap="square" lIns="0" tIns="0" rIns="0" bIns="0" rtlCol="0" anchor="ctr"/>
          <a:lstStyle/>
          <a:p>
            <a:pPr indent="0" marL="0">
              <a:buNone/>
            </a:pPr>
            <a:r>
              <a:rPr lang="en-US" sz="1400" b="1" dirty="0">
                <a:solidFill>
                  <a:srgbClr val="E2483D"/>
                </a:solidFill>
                <a:latin typeface="Meiryo" pitchFamily="34" charset="0"/>
                <a:ea typeface="Meiryo" pitchFamily="34" charset="-122"/>
                <a:cs typeface="Meiryo" pitchFamily="34" charset="-120"/>
              </a:rPr>
              <a:t>課題： </a:t>
            </a:r>
            <a:pPr indent="0" marL="0">
              <a:buNone/>
            </a:pPr>
            <a:r>
              <a:rPr lang="en-US" sz="1400" dirty="0">
                <a:solidFill>
                  <a:srgbClr val="2D2D2D"/>
                </a:solidFill>
                <a:latin typeface="Meiryo" pitchFamily="34" charset="0"/>
                <a:ea typeface="Meiryo" pitchFamily="34" charset="-122"/>
                <a:cs typeface="Meiryo" pitchFamily="34" charset="-120"/>
              </a:rPr>
              <a:t>糖度・収穫量は 1 収穫 = 1 件しか得られず、シーズンで数十件 → 100 件未満になる可能性</a:t>
            </a:r>
            <a:endParaRPr lang="en-US" sz="1400" dirty="0"/>
          </a:p>
        </p:txBody>
      </p:sp>
      <p:sp>
        <p:nvSpPr>
          <p:cNvPr id="7" name="Shape 5"/>
          <p:cNvSpPr/>
          <p:nvPr/>
        </p:nvSpPr>
        <p:spPr>
          <a:xfrm>
            <a:off x="868680" y="2880360"/>
            <a:ext cx="3383280" cy="3200400"/>
          </a:xfrm>
          <a:prstGeom prst="roundRect">
            <a:avLst>
              <a:gd name="adj" fmla="val 2857"/>
            </a:avLst>
          </a:prstGeom>
          <a:solidFill>
            <a:srgbClr val="F4F6F6"/>
          </a:solidFill>
          <a:ln/>
          <a:effectLst>
            <a:outerShdw sx="100000" sy="100000" kx="0" ky="0" algn="bl" rotWithShape="0" blurRad="101600" dist="25400" dir="8100000">
              <a:srgbClr val="000000">
                <a:alpha val="12000"/>
              </a:srgbClr>
            </a:outerShdw>
          </a:effectLst>
        </p:spPr>
      </p:sp>
      <p:sp>
        <p:nvSpPr>
          <p:cNvPr id="8" name="Shape 6"/>
          <p:cNvSpPr/>
          <p:nvPr/>
        </p:nvSpPr>
        <p:spPr>
          <a:xfrm>
            <a:off x="868680" y="2880360"/>
            <a:ext cx="146304" cy="3200400"/>
          </a:xfrm>
          <a:prstGeom prst="rect">
            <a:avLst/>
          </a:prstGeom>
          <a:solidFill>
            <a:srgbClr val="E2483D"/>
          </a:solidFill>
          <a:ln/>
        </p:spPr>
      </p:sp>
      <p:sp>
        <p:nvSpPr>
          <p:cNvPr id="9" name="Text 7"/>
          <p:cNvSpPr/>
          <p:nvPr/>
        </p:nvSpPr>
        <p:spPr>
          <a:xfrm>
            <a:off x="1188720" y="3063240"/>
            <a:ext cx="3017520" cy="502920"/>
          </a:xfrm>
          <a:prstGeom prst="rect">
            <a:avLst/>
          </a:prstGeom>
          <a:noFill/>
          <a:ln/>
        </p:spPr>
        <p:txBody>
          <a:bodyPr wrap="square" lIns="0" tIns="0" rIns="0" bIns="0" rtlCol="0" anchor="ctr"/>
          <a:lstStyle/>
          <a:p>
            <a:pPr indent="0" marL="0">
              <a:buNone/>
            </a:pPr>
            <a:r>
              <a:rPr lang="en-US" sz="1500" b="1" dirty="0">
                <a:solidFill>
                  <a:srgbClr val="2D2D2D"/>
                </a:solidFill>
                <a:latin typeface="Meiryo" pitchFamily="34" charset="0"/>
                <a:ea typeface="Meiryo" pitchFamily="34" charset="-122"/>
                <a:cs typeface="Meiryo" pitchFamily="34" charset="-120"/>
              </a:rPr>
              <a:t>シンプルなモデルを軸</a:t>
            </a:r>
            <a:endParaRPr lang="en-US" sz="1500" dirty="0"/>
          </a:p>
        </p:txBody>
      </p:sp>
      <p:sp>
        <p:nvSpPr>
          <p:cNvPr id="10" name="Text 8"/>
          <p:cNvSpPr/>
          <p:nvPr/>
        </p:nvSpPr>
        <p:spPr>
          <a:xfrm>
            <a:off x="1188720" y="3611880"/>
            <a:ext cx="3017520" cy="2286000"/>
          </a:xfrm>
          <a:prstGeom prst="rect">
            <a:avLst/>
          </a:prstGeom>
          <a:noFill/>
          <a:ln/>
        </p:spPr>
        <p:txBody>
          <a:bodyPr wrap="square" lIns="0" tIns="0" rIns="0" bIns="0" rtlCol="0" anchor="ctr"/>
          <a:lstStyle/>
          <a:p>
            <a:pPr indent="0" marL="0">
              <a:lnSpc>
                <a:spcPct val="120000"/>
              </a:lnSpc>
              <a:buNone/>
            </a:pPr>
            <a:r>
              <a:rPr lang="en-US" sz="1250" dirty="0">
                <a:solidFill>
                  <a:srgbClr val="70757A"/>
                </a:solidFill>
                <a:latin typeface="Meiryo" pitchFamily="34" charset="0"/>
                <a:ea typeface="Meiryo" pitchFamily="34" charset="-122"/>
                <a:cs typeface="Meiryo" pitchFamily="34" charset="-120"/>
              </a:rPr>
              <a:t>Ridge / Lasso、RF、LightGBM、GPR を使用。少データに弱い深層学習は避ける。</a:t>
            </a:r>
            <a:endParaRPr lang="en-US" sz="1250" dirty="0"/>
          </a:p>
        </p:txBody>
      </p:sp>
      <p:sp>
        <p:nvSpPr>
          <p:cNvPr id="11" name="Shape 9"/>
          <p:cNvSpPr/>
          <p:nvPr/>
        </p:nvSpPr>
        <p:spPr>
          <a:xfrm>
            <a:off x="4453128" y="2880360"/>
            <a:ext cx="3383280" cy="3200400"/>
          </a:xfrm>
          <a:prstGeom prst="roundRect">
            <a:avLst>
              <a:gd name="adj" fmla="val 2857"/>
            </a:avLst>
          </a:prstGeom>
          <a:solidFill>
            <a:srgbClr val="F4F6F6"/>
          </a:solidFill>
          <a:ln/>
          <a:effectLst>
            <a:outerShdw sx="100000" sy="100000" kx="0" ky="0" algn="bl" rotWithShape="0" blurRad="101600" dist="25400" dir="8100000">
              <a:srgbClr val="000000">
                <a:alpha val="12000"/>
              </a:srgbClr>
            </a:outerShdw>
          </a:effectLst>
        </p:spPr>
      </p:sp>
      <p:sp>
        <p:nvSpPr>
          <p:cNvPr id="12" name="Shape 10"/>
          <p:cNvSpPr/>
          <p:nvPr/>
        </p:nvSpPr>
        <p:spPr>
          <a:xfrm>
            <a:off x="4453128" y="2880360"/>
            <a:ext cx="146304" cy="3200400"/>
          </a:xfrm>
          <a:prstGeom prst="rect">
            <a:avLst/>
          </a:prstGeom>
          <a:solidFill>
            <a:srgbClr val="2FA15A"/>
          </a:solidFill>
          <a:ln/>
        </p:spPr>
      </p:sp>
      <p:sp>
        <p:nvSpPr>
          <p:cNvPr id="13" name="Text 11"/>
          <p:cNvSpPr/>
          <p:nvPr/>
        </p:nvSpPr>
        <p:spPr>
          <a:xfrm>
            <a:off x="4773168" y="3063240"/>
            <a:ext cx="3017520" cy="502920"/>
          </a:xfrm>
          <a:prstGeom prst="rect">
            <a:avLst/>
          </a:prstGeom>
          <a:noFill/>
          <a:ln/>
        </p:spPr>
        <p:txBody>
          <a:bodyPr wrap="square" lIns="0" tIns="0" rIns="0" bIns="0" rtlCol="0" anchor="ctr"/>
          <a:lstStyle/>
          <a:p>
            <a:pPr indent="0" marL="0">
              <a:buNone/>
            </a:pPr>
            <a:r>
              <a:rPr lang="en-US" sz="1500" b="1" dirty="0">
                <a:solidFill>
                  <a:srgbClr val="2D2D2D"/>
                </a:solidFill>
                <a:latin typeface="Meiryo" pitchFamily="34" charset="0"/>
                <a:ea typeface="Meiryo" pitchFamily="34" charset="-122"/>
                <a:cs typeface="Meiryo" pitchFamily="34" charset="-120"/>
              </a:rPr>
              <a:t>強い特徴量設計</a:t>
            </a:r>
            <a:endParaRPr lang="en-US" sz="1500" dirty="0"/>
          </a:p>
        </p:txBody>
      </p:sp>
      <p:sp>
        <p:nvSpPr>
          <p:cNvPr id="14" name="Text 12"/>
          <p:cNvSpPr/>
          <p:nvPr/>
        </p:nvSpPr>
        <p:spPr>
          <a:xfrm>
            <a:off x="4773168" y="3611880"/>
            <a:ext cx="3017520" cy="2286000"/>
          </a:xfrm>
          <a:prstGeom prst="rect">
            <a:avLst/>
          </a:prstGeom>
          <a:noFill/>
          <a:ln/>
        </p:spPr>
        <p:txBody>
          <a:bodyPr wrap="square" lIns="0" tIns="0" rIns="0" bIns="0" rtlCol="0" anchor="ctr"/>
          <a:lstStyle/>
          <a:p>
            <a:pPr indent="0" marL="0">
              <a:lnSpc>
                <a:spcPct val="120000"/>
              </a:lnSpc>
              <a:buNone/>
            </a:pPr>
            <a:r>
              <a:rPr lang="en-US" sz="1250" dirty="0">
                <a:solidFill>
                  <a:srgbClr val="70757A"/>
                </a:solidFill>
                <a:latin typeface="Meiryo" pitchFamily="34" charset="0"/>
                <a:ea typeface="Meiryo" pitchFamily="34" charset="-122"/>
                <a:cs typeface="Meiryo" pitchFamily="34" charset="-120"/>
              </a:rPr>
              <a:t>「累積日照」「水ストレス日数」など、栽培知識を活かした変数を入力に加える。</a:t>
            </a:r>
            <a:endParaRPr lang="en-US" sz="1250" dirty="0"/>
          </a:p>
        </p:txBody>
      </p:sp>
      <p:sp>
        <p:nvSpPr>
          <p:cNvPr id="15" name="Shape 13"/>
          <p:cNvSpPr/>
          <p:nvPr/>
        </p:nvSpPr>
        <p:spPr>
          <a:xfrm>
            <a:off x="8037576" y="2880360"/>
            <a:ext cx="3383280" cy="3200400"/>
          </a:xfrm>
          <a:prstGeom prst="roundRect">
            <a:avLst>
              <a:gd name="adj" fmla="val 2857"/>
            </a:avLst>
          </a:prstGeom>
          <a:solidFill>
            <a:srgbClr val="F4F6F6"/>
          </a:solidFill>
          <a:ln/>
          <a:effectLst>
            <a:outerShdw sx="100000" sy="100000" kx="0" ky="0" algn="bl" rotWithShape="0" blurRad="101600" dist="25400" dir="8100000">
              <a:srgbClr val="000000">
                <a:alpha val="12000"/>
              </a:srgbClr>
            </a:outerShdw>
          </a:effectLst>
        </p:spPr>
      </p:sp>
      <p:sp>
        <p:nvSpPr>
          <p:cNvPr id="16" name="Shape 14"/>
          <p:cNvSpPr/>
          <p:nvPr/>
        </p:nvSpPr>
        <p:spPr>
          <a:xfrm>
            <a:off x="8037576" y="2880360"/>
            <a:ext cx="146304" cy="3200400"/>
          </a:xfrm>
          <a:prstGeom prst="rect">
            <a:avLst/>
          </a:prstGeom>
          <a:solidFill>
            <a:srgbClr val="2F7DD1"/>
          </a:solidFill>
          <a:ln/>
        </p:spPr>
      </p:sp>
      <p:sp>
        <p:nvSpPr>
          <p:cNvPr id="17" name="Text 15"/>
          <p:cNvSpPr/>
          <p:nvPr/>
        </p:nvSpPr>
        <p:spPr>
          <a:xfrm>
            <a:off x="8357616" y="3063240"/>
            <a:ext cx="3017520" cy="502920"/>
          </a:xfrm>
          <a:prstGeom prst="rect">
            <a:avLst/>
          </a:prstGeom>
          <a:noFill/>
          <a:ln/>
        </p:spPr>
        <p:txBody>
          <a:bodyPr wrap="square" lIns="0" tIns="0" rIns="0" bIns="0" rtlCol="0" anchor="ctr"/>
          <a:lstStyle/>
          <a:p>
            <a:pPr indent="0" marL="0">
              <a:buNone/>
            </a:pPr>
            <a:r>
              <a:rPr lang="en-US" sz="1500" b="1" dirty="0">
                <a:solidFill>
                  <a:srgbClr val="2D2D2D"/>
                </a:solidFill>
                <a:latin typeface="Meiryo" pitchFamily="34" charset="0"/>
                <a:ea typeface="Meiryo" pitchFamily="34" charset="-122"/>
                <a:cs typeface="Meiryo" pitchFamily="34" charset="-120"/>
              </a:rPr>
              <a:t>時系列 Leave-One-Out CV</a:t>
            </a:r>
            <a:endParaRPr lang="en-US" sz="1500" dirty="0"/>
          </a:p>
        </p:txBody>
      </p:sp>
      <p:sp>
        <p:nvSpPr>
          <p:cNvPr id="18" name="Text 16"/>
          <p:cNvSpPr/>
          <p:nvPr/>
        </p:nvSpPr>
        <p:spPr>
          <a:xfrm>
            <a:off x="8357616" y="3611880"/>
            <a:ext cx="3017520" cy="2286000"/>
          </a:xfrm>
          <a:prstGeom prst="rect">
            <a:avLst/>
          </a:prstGeom>
          <a:noFill/>
          <a:ln/>
        </p:spPr>
        <p:txBody>
          <a:bodyPr wrap="square" lIns="0" tIns="0" rIns="0" bIns="0" rtlCol="0" anchor="ctr"/>
          <a:lstStyle/>
          <a:p>
            <a:pPr indent="0" marL="0">
              <a:lnSpc>
                <a:spcPct val="120000"/>
              </a:lnSpc>
              <a:buNone/>
            </a:pPr>
            <a:r>
              <a:rPr lang="en-US" sz="1250" dirty="0">
                <a:solidFill>
                  <a:srgbClr val="70757A"/>
                </a:solidFill>
                <a:latin typeface="Meiryo" pitchFamily="34" charset="0"/>
                <a:ea typeface="Meiryo" pitchFamily="34" charset="-122"/>
                <a:cs typeface="Meiryo" pitchFamily="34" charset="-120"/>
              </a:rPr>
              <a:t>未来から 1 件ずつテスト用に抜き、残りで学習。限られたデータを最大限活用する。</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182880" cy="384048"/>
          </a:xfrm>
          <a:prstGeom prst="rect">
            <a:avLst/>
          </a:prstGeom>
          <a:solidFill>
            <a:srgbClr val="E2483D"/>
          </a:solidFill>
          <a:ln/>
        </p:spPr>
      </p:sp>
      <p:sp>
        <p:nvSpPr>
          <p:cNvPr id="3" name="Text 1"/>
          <p:cNvSpPr/>
          <p:nvPr/>
        </p:nvSpPr>
        <p:spPr>
          <a:xfrm>
            <a:off x="868680" y="393192"/>
            <a:ext cx="10607040" cy="640080"/>
          </a:xfrm>
          <a:prstGeom prst="rect">
            <a:avLst/>
          </a:prstGeom>
          <a:noFill/>
          <a:ln/>
        </p:spPr>
        <p:txBody>
          <a:bodyPr wrap="square" lIns="0" tIns="0" rIns="0" bIns="0" rtlCol="0" anchor="ctr"/>
          <a:lstStyle/>
          <a:p>
            <a:pPr indent="0" marL="0">
              <a:buNone/>
            </a:pPr>
            <a:r>
              <a:rPr lang="en-US" sz="2900" b="1" dirty="0">
                <a:solidFill>
                  <a:srgbClr val="2D2D2D"/>
                </a:solidFill>
                <a:latin typeface="Meiryo" pitchFamily="34" charset="0"/>
                <a:ea typeface="Meiryo" pitchFamily="34" charset="-122"/>
                <a:cs typeface="Meiryo" pitchFamily="34" charset="-120"/>
              </a:rPr>
              <a:t>極端にデータが少ない場合の進め方</a:t>
            </a:r>
            <a:endParaRPr lang="en-US" sz="2900" dirty="0"/>
          </a:p>
        </p:txBody>
      </p:sp>
      <p:sp>
        <p:nvSpPr>
          <p:cNvPr id="4" name="Text 2"/>
          <p:cNvSpPr/>
          <p:nvPr/>
        </p:nvSpPr>
        <p:spPr>
          <a:xfrm>
            <a:off x="886968" y="1024128"/>
            <a:ext cx="10607040" cy="365760"/>
          </a:xfrm>
          <a:prstGeom prst="rect">
            <a:avLst/>
          </a:prstGeom>
          <a:noFill/>
          <a:ln/>
        </p:spPr>
        <p:txBody>
          <a:bodyPr wrap="square" lIns="0" tIns="0" rIns="0" bIns="0" rtlCol="0" anchor="ctr"/>
          <a:lstStyle/>
          <a:p>
            <a:pPr indent="0" marL="0">
              <a:buNone/>
            </a:pPr>
            <a:r>
              <a:rPr lang="en-US" sz="1350" dirty="0">
                <a:solidFill>
                  <a:srgbClr val="70757A"/>
                </a:solidFill>
                <a:latin typeface="Meiryo" pitchFamily="34" charset="0"/>
                <a:ea typeface="Meiryo" pitchFamily="34" charset="-122"/>
                <a:cs typeface="Meiryo" pitchFamily="34" charset="-120"/>
              </a:rPr>
              <a:t>フェーズ別に役割を切り替える</a:t>
            </a:r>
            <a:endParaRPr lang="en-US" sz="1350" dirty="0"/>
          </a:p>
        </p:txBody>
      </p:sp>
      <p:sp>
        <p:nvSpPr>
          <p:cNvPr id="5" name="Shape 3"/>
          <p:cNvSpPr/>
          <p:nvPr/>
        </p:nvSpPr>
        <p:spPr>
          <a:xfrm>
            <a:off x="868680" y="1783080"/>
            <a:ext cx="5074920" cy="4297680"/>
          </a:xfrm>
          <a:prstGeom prst="roundRect">
            <a:avLst>
              <a:gd name="adj" fmla="val 2128"/>
            </a:avLst>
          </a:prstGeom>
          <a:solidFill>
            <a:srgbClr val="FCEEEC"/>
          </a:solidFill>
          <a:ln/>
        </p:spPr>
      </p:sp>
      <p:sp>
        <p:nvSpPr>
          <p:cNvPr id="6" name="Shape 4"/>
          <p:cNvSpPr/>
          <p:nvPr/>
        </p:nvSpPr>
        <p:spPr>
          <a:xfrm>
            <a:off x="868680" y="1783080"/>
            <a:ext cx="146304" cy="4297680"/>
          </a:xfrm>
          <a:prstGeom prst="rect">
            <a:avLst/>
          </a:prstGeom>
          <a:solidFill>
            <a:srgbClr val="E2483D"/>
          </a:solidFill>
          <a:ln/>
        </p:spPr>
      </p:sp>
      <p:sp>
        <p:nvSpPr>
          <p:cNvPr id="7" name="Text 5"/>
          <p:cNvSpPr/>
          <p:nvPr/>
        </p:nvSpPr>
        <p:spPr>
          <a:xfrm>
            <a:off x="1188720" y="1965960"/>
            <a:ext cx="4572000" cy="457200"/>
          </a:xfrm>
          <a:prstGeom prst="rect">
            <a:avLst/>
          </a:prstGeom>
          <a:noFill/>
          <a:ln/>
        </p:spPr>
        <p:txBody>
          <a:bodyPr wrap="square" lIns="0" tIns="0" rIns="0" bIns="0" rtlCol="0" anchor="ctr"/>
          <a:lstStyle/>
          <a:p>
            <a:pPr indent="0" marL="0">
              <a:buNone/>
            </a:pPr>
            <a:r>
              <a:rPr lang="en-US" sz="1550" b="1" dirty="0">
                <a:solidFill>
                  <a:srgbClr val="E2483D"/>
                </a:solidFill>
                <a:latin typeface="Meiryo" pitchFamily="34" charset="0"/>
                <a:ea typeface="Meiryo" pitchFamily="34" charset="-122"/>
                <a:cs typeface="Meiryo" pitchFamily="34" charset="-120"/>
              </a:rPr>
              <a:t>Phase 1 ─ シーズン初期（データ極少）</a:t>
            </a:r>
            <a:endParaRPr lang="en-US" sz="1550" dirty="0"/>
          </a:p>
        </p:txBody>
      </p:sp>
      <p:sp>
        <p:nvSpPr>
          <p:cNvPr id="8" name="Text 6"/>
          <p:cNvSpPr/>
          <p:nvPr/>
        </p:nvSpPr>
        <p:spPr>
          <a:xfrm>
            <a:off x="1234440" y="2606040"/>
            <a:ext cx="4572000" cy="3291840"/>
          </a:xfrm>
          <a:prstGeom prst="rect">
            <a:avLst/>
          </a:prstGeom>
          <a:noFill/>
          <a:ln/>
        </p:spPr>
        <p:txBody>
          <a:bodyPr wrap="square" lIns="0" tIns="0" rIns="0" bIns="0" rtlCol="0" anchor="ctr"/>
          <a:lstStyle/>
          <a:p>
            <a:pPr marL="342900" indent="-342900">
              <a:lnSpc>
                <a:spcPct val="115000"/>
              </a:lnSpc>
              <a:spcAft>
                <a:spcPts val="600"/>
              </a:spcAft>
              <a:buSzPct val="100000"/>
              <a:buChar char="•"/>
            </a:pPr>
            <a:r>
              <a:rPr lang="en-US" sz="1350" b="1" dirty="0">
                <a:solidFill>
                  <a:srgbClr val="2D2D2D"/>
                </a:solidFill>
                <a:latin typeface="Meiryo" pitchFamily="34" charset="0"/>
                <a:ea typeface="Meiryo" pitchFamily="34" charset="-122"/>
                <a:cs typeface="Meiryo" pitchFamily="34" charset="-120"/>
              </a:rPr>
              <a:t>ベイズ最適化</a:t>
            </a:r>
            <a:endParaRPr lang="en-US" sz="1350" dirty="0"/>
          </a:p>
          <a:p>
            <a:pPr indent="0" marL="0">
              <a:lnSpc>
                <a:spcPct val="115000"/>
              </a:lnSpc>
              <a:spcAft>
                <a:spcPts val="600"/>
              </a:spcAft>
              <a:buNone/>
            </a:pPr>
            <a:r>
              <a:rPr lang="en-US" sz="1200" dirty="0">
                <a:solidFill>
                  <a:srgbClr val="70757A"/>
                </a:solidFill>
                <a:latin typeface="Meiryo" pitchFamily="34" charset="0"/>
                <a:ea typeface="Meiryo" pitchFamily="34" charset="-122"/>
                <a:cs typeface="Meiryo" pitchFamily="34" charset="-120"/>
              </a:rPr>
              <a:t>GPRの不確かさを使い「次に試す条件」を機械に提案させる</a:t>
            </a:r>
            <a:endParaRPr lang="en-US" sz="1350" dirty="0"/>
          </a:p>
          <a:p>
            <a:pPr indent="0" marL="0">
              <a:lnSpc>
                <a:spcPct val="115000"/>
              </a:lnSpc>
              <a:spcAft>
                <a:spcPts val="600"/>
              </a:spcAft>
              <a:buNone/>
            </a:pPr>
            <a:r>
              <a:rPr lang="en-US" sz="600" dirty="0">
                <a:solidFill>
                  <a:srgbClr val="2D2D2D"/>
                </a:solidFill>
                <a:latin typeface="Meiryo" pitchFamily="34" charset="0"/>
                <a:ea typeface="Meiryo" pitchFamily="34" charset="-122"/>
                <a:cs typeface="Meiryo" pitchFamily="34" charset="-120"/>
              </a:rPr>
              <a:t> </a:t>
            </a:r>
            <a:endParaRPr lang="en-US" sz="1350" dirty="0"/>
          </a:p>
          <a:p>
            <a:pPr marL="342900" indent="-342900">
              <a:lnSpc>
                <a:spcPct val="115000"/>
              </a:lnSpc>
              <a:spcAft>
                <a:spcPts val="600"/>
              </a:spcAft>
              <a:buSzPct val="100000"/>
              <a:buChar char="•"/>
            </a:pPr>
            <a:r>
              <a:rPr lang="en-US" sz="1350" b="1" dirty="0">
                <a:solidFill>
                  <a:srgbClr val="2D2D2D"/>
                </a:solidFill>
                <a:latin typeface="Meiryo" pitchFamily="34" charset="0"/>
                <a:ea typeface="Meiryo" pitchFamily="34" charset="-122"/>
                <a:cs typeface="Meiryo" pitchFamily="34" charset="-120"/>
              </a:rPr>
              <a:t>探索的分析を中心に</a:t>
            </a:r>
            <a:endParaRPr lang="en-US" sz="1350" dirty="0"/>
          </a:p>
          <a:p>
            <a:pPr indent="0" marL="0">
              <a:lnSpc>
                <a:spcPct val="115000"/>
              </a:lnSpc>
              <a:spcAft>
                <a:spcPts val="600"/>
              </a:spcAft>
              <a:buNone/>
            </a:pPr>
            <a:r>
              <a:rPr lang="en-US" sz="1200" dirty="0">
                <a:solidFill>
                  <a:srgbClr val="70757A"/>
                </a:solidFill>
                <a:latin typeface="Meiryo" pitchFamily="34" charset="0"/>
                <a:ea typeface="Meiryo" pitchFamily="34" charset="-122"/>
                <a:cs typeface="Meiryo" pitchFamily="34" charset="-120"/>
              </a:rPr>
              <a:t>相関・クラスタリング・可視化で「どの要因が効きそうか」の傾向を掴む</a:t>
            </a:r>
            <a:endParaRPr lang="en-US" sz="1350" dirty="0"/>
          </a:p>
        </p:txBody>
      </p:sp>
      <p:sp>
        <p:nvSpPr>
          <p:cNvPr id="9" name="Shape 7"/>
          <p:cNvSpPr/>
          <p:nvPr/>
        </p:nvSpPr>
        <p:spPr>
          <a:xfrm>
            <a:off x="5989320" y="3931920"/>
            <a:ext cx="274320" cy="0"/>
          </a:xfrm>
          <a:prstGeom prst="line">
            <a:avLst/>
          </a:prstGeom>
          <a:noFill/>
          <a:ln w="38100">
            <a:solidFill>
              <a:srgbClr val="70757A"/>
            </a:solidFill>
            <a:prstDash val="solid"/>
            <a:tailEnd type="triangle"/>
          </a:ln>
        </p:spPr>
      </p:sp>
      <p:sp>
        <p:nvSpPr>
          <p:cNvPr id="10" name="Shape 8"/>
          <p:cNvSpPr/>
          <p:nvPr/>
        </p:nvSpPr>
        <p:spPr>
          <a:xfrm>
            <a:off x="6263640" y="1783080"/>
            <a:ext cx="5074920" cy="4297680"/>
          </a:xfrm>
          <a:prstGeom prst="roundRect">
            <a:avLst>
              <a:gd name="adj" fmla="val 2128"/>
            </a:avLst>
          </a:prstGeom>
          <a:solidFill>
            <a:srgbClr val="F4F6F6"/>
          </a:solidFill>
          <a:ln/>
        </p:spPr>
      </p:sp>
      <p:sp>
        <p:nvSpPr>
          <p:cNvPr id="11" name="Shape 9"/>
          <p:cNvSpPr/>
          <p:nvPr/>
        </p:nvSpPr>
        <p:spPr>
          <a:xfrm>
            <a:off x="6263640" y="1783080"/>
            <a:ext cx="146304" cy="4297680"/>
          </a:xfrm>
          <a:prstGeom prst="rect">
            <a:avLst/>
          </a:prstGeom>
          <a:solidFill>
            <a:srgbClr val="2FA15A"/>
          </a:solidFill>
          <a:ln/>
        </p:spPr>
      </p:sp>
      <p:sp>
        <p:nvSpPr>
          <p:cNvPr id="12" name="Text 10"/>
          <p:cNvSpPr/>
          <p:nvPr/>
        </p:nvSpPr>
        <p:spPr>
          <a:xfrm>
            <a:off x="6583680" y="1965960"/>
            <a:ext cx="4572000" cy="457200"/>
          </a:xfrm>
          <a:prstGeom prst="rect">
            <a:avLst/>
          </a:prstGeom>
          <a:noFill/>
          <a:ln/>
        </p:spPr>
        <p:txBody>
          <a:bodyPr wrap="square" lIns="0" tIns="0" rIns="0" bIns="0" rtlCol="0" anchor="ctr"/>
          <a:lstStyle/>
          <a:p>
            <a:pPr indent="0" marL="0">
              <a:buNone/>
            </a:pPr>
            <a:r>
              <a:rPr lang="en-US" sz="1550" b="1" dirty="0">
                <a:solidFill>
                  <a:srgbClr val="2FA15A"/>
                </a:solidFill>
                <a:latin typeface="Meiryo" pitchFamily="34" charset="0"/>
                <a:ea typeface="Meiryo" pitchFamily="34" charset="-122"/>
                <a:cs typeface="Meiryo" pitchFamily="34" charset="-120"/>
              </a:rPr>
              <a:t>Phase 2 ─ データが蓄積してから</a:t>
            </a:r>
            <a:endParaRPr lang="en-US" sz="1550" dirty="0"/>
          </a:p>
        </p:txBody>
      </p:sp>
      <p:sp>
        <p:nvSpPr>
          <p:cNvPr id="13" name="Text 11"/>
          <p:cNvSpPr/>
          <p:nvPr/>
        </p:nvSpPr>
        <p:spPr>
          <a:xfrm>
            <a:off x="6629400" y="2606040"/>
            <a:ext cx="4572000" cy="3291840"/>
          </a:xfrm>
          <a:prstGeom prst="rect">
            <a:avLst/>
          </a:prstGeom>
          <a:noFill/>
          <a:ln/>
        </p:spPr>
        <p:txBody>
          <a:bodyPr wrap="square" lIns="0" tIns="0" rIns="0" bIns="0" rtlCol="0" anchor="ctr"/>
          <a:lstStyle/>
          <a:p>
            <a:pPr marL="342900" indent="-342900">
              <a:lnSpc>
                <a:spcPct val="115000"/>
              </a:lnSpc>
              <a:spcAft>
                <a:spcPts val="600"/>
              </a:spcAft>
              <a:buSzPct val="100000"/>
              <a:buChar char="•"/>
            </a:pPr>
            <a:r>
              <a:rPr lang="en-US" sz="1350" b="1" dirty="0">
                <a:solidFill>
                  <a:srgbClr val="2D2D2D"/>
                </a:solidFill>
                <a:latin typeface="Meiryo" pitchFamily="34" charset="0"/>
                <a:ea typeface="Meiryo" pitchFamily="34" charset="-122"/>
                <a:cs typeface="Meiryo" pitchFamily="34" charset="-120"/>
              </a:rPr>
              <a:t>予測モデルを段階的に作る</a:t>
            </a:r>
            <a:endParaRPr lang="en-US" sz="1350" dirty="0"/>
          </a:p>
          <a:p>
            <a:pPr indent="0" marL="0">
              <a:lnSpc>
                <a:spcPct val="115000"/>
              </a:lnSpc>
              <a:spcAft>
                <a:spcPts val="600"/>
              </a:spcAft>
              <a:buNone/>
            </a:pPr>
            <a:r>
              <a:rPr lang="en-US" sz="1200" dirty="0">
                <a:solidFill>
                  <a:srgbClr val="70757A"/>
                </a:solidFill>
                <a:latin typeface="Meiryo" pitchFamily="34" charset="0"/>
                <a:ea typeface="Meiryo" pitchFamily="34" charset="-122"/>
                <a:cs typeface="Meiryo" pitchFamily="34" charset="-120"/>
              </a:rPr>
              <a:t>Ridge/Lasso → ランダムフォレスト → LightGBM・GPR と進める</a:t>
            </a:r>
            <a:endParaRPr lang="en-US" sz="1350" dirty="0"/>
          </a:p>
          <a:p>
            <a:pPr indent="0" marL="0">
              <a:lnSpc>
                <a:spcPct val="115000"/>
              </a:lnSpc>
              <a:spcAft>
                <a:spcPts val="600"/>
              </a:spcAft>
              <a:buNone/>
            </a:pPr>
            <a:r>
              <a:rPr lang="en-US" sz="600" dirty="0">
                <a:solidFill>
                  <a:srgbClr val="2D2D2D"/>
                </a:solidFill>
                <a:latin typeface="Meiryo" pitchFamily="34" charset="0"/>
                <a:ea typeface="Meiryo" pitchFamily="34" charset="-122"/>
                <a:cs typeface="Meiryo" pitchFamily="34" charset="-120"/>
              </a:rPr>
              <a:t> </a:t>
            </a:r>
            <a:endParaRPr lang="en-US" sz="1350" dirty="0"/>
          </a:p>
          <a:p>
            <a:pPr marL="342900" indent="-342900">
              <a:lnSpc>
                <a:spcPct val="115000"/>
              </a:lnSpc>
              <a:spcAft>
                <a:spcPts val="600"/>
              </a:spcAft>
              <a:buSzPct val="100000"/>
              <a:buChar char="•"/>
            </a:pPr>
            <a:r>
              <a:rPr lang="en-US" sz="1350" b="1" dirty="0">
                <a:solidFill>
                  <a:srgbClr val="2D2D2D"/>
                </a:solidFill>
                <a:latin typeface="Meiryo" pitchFamily="34" charset="0"/>
                <a:ea typeface="Meiryo" pitchFamily="34" charset="-122"/>
                <a:cs typeface="Meiryo" pitchFamily="34" charset="-120"/>
              </a:rPr>
              <a:t>時系列 LOOCV で評価</a:t>
            </a:r>
            <a:endParaRPr lang="en-US" sz="1350" dirty="0"/>
          </a:p>
          <a:p>
            <a:pPr indent="0" marL="0">
              <a:lnSpc>
                <a:spcPct val="115000"/>
              </a:lnSpc>
              <a:spcAft>
                <a:spcPts val="600"/>
              </a:spcAft>
              <a:buNone/>
            </a:pPr>
            <a:r>
              <a:rPr lang="en-US" sz="1200" dirty="0">
                <a:solidFill>
                  <a:srgbClr val="70757A"/>
                </a:solidFill>
                <a:latin typeface="Meiryo" pitchFamily="34" charset="0"/>
                <a:ea typeface="Meiryo" pitchFamily="34" charset="-122"/>
                <a:cs typeface="Meiryo" pitchFamily="34" charset="-120"/>
              </a:rPr>
              <a:t>MAE/RMSE に加え、GPR の不確かさが実態と合っているかも検証</a:t>
            </a:r>
            <a:endParaRPr lang="en-US" sz="1350" dirty="0"/>
          </a:p>
        </p:txBody>
      </p:sp>
      <p:sp>
        <p:nvSpPr>
          <p:cNvPr id="14" name="Text 12"/>
          <p:cNvSpPr/>
          <p:nvPr/>
        </p:nvSpPr>
        <p:spPr>
          <a:xfrm>
            <a:off x="868680" y="6263640"/>
            <a:ext cx="10469880" cy="365760"/>
          </a:xfrm>
          <a:prstGeom prst="rect">
            <a:avLst/>
          </a:prstGeom>
          <a:noFill/>
          <a:ln/>
        </p:spPr>
        <p:txBody>
          <a:bodyPr wrap="square" lIns="0" tIns="0" rIns="0" bIns="0" rtlCol="0" anchor="ctr"/>
          <a:lstStyle/>
          <a:p>
            <a:pPr algn="ctr" indent="0" marL="0">
              <a:buNone/>
            </a:pPr>
            <a:r>
              <a:rPr lang="en-US" sz="1200" i="1" dirty="0">
                <a:solidFill>
                  <a:srgbClr val="70757A"/>
                </a:solidFill>
                <a:latin typeface="Meiryo" pitchFamily="34" charset="0"/>
                <a:ea typeface="Meiryo" pitchFamily="34" charset="-122"/>
                <a:cs typeface="Meiryo" pitchFamily="34" charset="-120"/>
              </a:rPr>
              <a:t>※ 1 シーズンで足りなければ複数シーズンを連結してデータを増やす</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182880" cy="384048"/>
          </a:xfrm>
          <a:prstGeom prst="rect">
            <a:avLst/>
          </a:prstGeom>
          <a:solidFill>
            <a:srgbClr val="E2483D"/>
          </a:solidFill>
          <a:ln/>
        </p:spPr>
      </p:sp>
      <p:sp>
        <p:nvSpPr>
          <p:cNvPr id="3" name="Text 1"/>
          <p:cNvSpPr/>
          <p:nvPr/>
        </p:nvSpPr>
        <p:spPr>
          <a:xfrm>
            <a:off x="868680" y="393192"/>
            <a:ext cx="10607040" cy="640080"/>
          </a:xfrm>
          <a:prstGeom prst="rect">
            <a:avLst/>
          </a:prstGeom>
          <a:noFill/>
          <a:ln/>
        </p:spPr>
        <p:txBody>
          <a:bodyPr wrap="square" lIns="0" tIns="0" rIns="0" bIns="0" rtlCol="0" anchor="ctr"/>
          <a:lstStyle/>
          <a:p>
            <a:pPr indent="0" marL="0">
              <a:buNone/>
            </a:pPr>
            <a:r>
              <a:rPr lang="en-US" sz="2900" b="1" dirty="0">
                <a:solidFill>
                  <a:srgbClr val="2D2D2D"/>
                </a:solidFill>
                <a:latin typeface="Meiryo" pitchFamily="34" charset="0"/>
                <a:ea typeface="Meiryo" pitchFamily="34" charset="-122"/>
                <a:cs typeface="Meiryo" pitchFamily="34" charset="-120"/>
              </a:rPr>
              <a:t>機械学習の進め方 ①</a:t>
            </a:r>
            <a:endParaRPr lang="en-US" sz="2900" dirty="0"/>
          </a:p>
        </p:txBody>
      </p:sp>
      <p:sp>
        <p:nvSpPr>
          <p:cNvPr id="4" name="Text 2"/>
          <p:cNvSpPr/>
          <p:nvPr/>
        </p:nvSpPr>
        <p:spPr>
          <a:xfrm>
            <a:off x="886968" y="1024128"/>
            <a:ext cx="10607040" cy="365760"/>
          </a:xfrm>
          <a:prstGeom prst="rect">
            <a:avLst/>
          </a:prstGeom>
          <a:noFill/>
          <a:ln/>
        </p:spPr>
        <p:txBody>
          <a:bodyPr wrap="square" lIns="0" tIns="0" rIns="0" bIns="0" rtlCol="0" anchor="ctr"/>
          <a:lstStyle/>
          <a:p>
            <a:pPr indent="0" marL="0">
              <a:buNone/>
            </a:pPr>
            <a:r>
              <a:rPr lang="en-US" sz="1350" dirty="0">
                <a:solidFill>
                  <a:srgbClr val="70757A"/>
                </a:solidFill>
                <a:latin typeface="Meiryo" pitchFamily="34" charset="0"/>
                <a:ea typeface="Meiryo" pitchFamily="34" charset="-122"/>
                <a:cs typeface="Meiryo" pitchFamily="34" charset="-120"/>
              </a:rPr>
              <a:t>理由を持って、段階的に手法を選ぶ</a:t>
            </a:r>
            <a:endParaRPr lang="en-US" sz="1350" dirty="0"/>
          </a:p>
        </p:txBody>
      </p:sp>
      <p:sp>
        <p:nvSpPr>
          <p:cNvPr id="5" name="Shape 3"/>
          <p:cNvSpPr/>
          <p:nvPr/>
        </p:nvSpPr>
        <p:spPr>
          <a:xfrm>
            <a:off x="868680" y="1783080"/>
            <a:ext cx="10469880" cy="1783080"/>
          </a:xfrm>
          <a:prstGeom prst="roundRect">
            <a:avLst>
              <a:gd name="adj" fmla="val 5128"/>
            </a:avLst>
          </a:prstGeom>
          <a:solidFill>
            <a:srgbClr val="F4F6F6"/>
          </a:solidFill>
          <a:ln/>
        </p:spPr>
      </p:sp>
      <p:sp>
        <p:nvSpPr>
          <p:cNvPr id="6" name="Shape 4"/>
          <p:cNvSpPr/>
          <p:nvPr/>
        </p:nvSpPr>
        <p:spPr>
          <a:xfrm>
            <a:off x="868680" y="1783080"/>
            <a:ext cx="146304" cy="1783080"/>
          </a:xfrm>
          <a:prstGeom prst="rect">
            <a:avLst/>
          </a:prstGeom>
          <a:solidFill>
            <a:srgbClr val="E2483D"/>
          </a:solidFill>
          <a:ln/>
        </p:spPr>
      </p:sp>
      <p:sp>
        <p:nvSpPr>
          <p:cNvPr id="7" name="Text 5"/>
          <p:cNvSpPr/>
          <p:nvPr/>
        </p:nvSpPr>
        <p:spPr>
          <a:xfrm>
            <a:off x="1188720" y="1965960"/>
            <a:ext cx="10058400" cy="457200"/>
          </a:xfrm>
          <a:prstGeom prst="rect">
            <a:avLst/>
          </a:prstGeom>
          <a:noFill/>
          <a:ln/>
        </p:spPr>
        <p:txBody>
          <a:bodyPr wrap="square" lIns="0" tIns="0" rIns="0" bIns="0" rtlCol="0" anchor="ctr"/>
          <a:lstStyle/>
          <a:p>
            <a:pPr indent="0" marL="0">
              <a:buNone/>
            </a:pPr>
            <a:r>
              <a:rPr lang="en-US" sz="1700" b="1" dirty="0">
                <a:solidFill>
                  <a:srgbClr val="2D2D2D"/>
                </a:solidFill>
                <a:latin typeface="Meiryo" pitchFamily="34" charset="0"/>
                <a:ea typeface="Meiryo" pitchFamily="34" charset="-122"/>
                <a:cs typeface="Meiryo" pitchFamily="34" charset="-120"/>
              </a:rPr>
              <a:t>① 線形回帰・決定木 から始める</a:t>
            </a:r>
            <a:endParaRPr lang="en-US" sz="1700" dirty="0"/>
          </a:p>
        </p:txBody>
      </p:sp>
      <p:sp>
        <p:nvSpPr>
          <p:cNvPr id="8" name="Text 6"/>
          <p:cNvSpPr/>
          <p:nvPr/>
        </p:nvSpPr>
        <p:spPr>
          <a:xfrm>
            <a:off x="1188720" y="2468880"/>
            <a:ext cx="9966960" cy="1005840"/>
          </a:xfrm>
          <a:prstGeom prst="rect">
            <a:avLst/>
          </a:prstGeom>
          <a:noFill/>
          <a:ln/>
        </p:spPr>
        <p:txBody>
          <a:bodyPr wrap="square" lIns="0" tIns="0" rIns="0" bIns="0" rtlCol="0" anchor="ctr"/>
          <a:lstStyle/>
          <a:p>
            <a:pPr indent="0" marL="0">
              <a:lnSpc>
                <a:spcPct val="115000"/>
              </a:lnSpc>
              <a:buNone/>
            </a:pPr>
            <a:r>
              <a:rPr lang="en-US" sz="1400" b="1" dirty="0">
                <a:solidFill>
                  <a:srgbClr val="E2483D"/>
                </a:solidFill>
                <a:latin typeface="Meiryo" pitchFamily="34" charset="0"/>
                <a:ea typeface="Meiryo" pitchFamily="34" charset="-122"/>
                <a:cs typeface="Meiryo" pitchFamily="34" charset="-120"/>
              </a:rPr>
              <a:t>なぜ： </a:t>
            </a:r>
            <a:pPr indent="0" marL="0">
              <a:lnSpc>
                <a:spcPct val="115000"/>
              </a:lnSpc>
              <a:buNone/>
            </a:pPr>
            <a:r>
              <a:rPr lang="en-US" sz="1400" dirty="0">
                <a:solidFill>
                  <a:srgbClr val="2D2D2D"/>
                </a:solidFill>
                <a:latin typeface="Meiryo" pitchFamily="34" charset="0"/>
                <a:ea typeface="Meiryo" pitchFamily="34" charset="-122"/>
                <a:cs typeface="Meiryo" pitchFamily="34" charset="-120"/>
              </a:rPr>
              <a:t>データがまだ少ない段階でも扱え、結果の理由が説明しやすい。「日照が多いほど糖度が上がる」のような大まかな関係をまず把握できる。</a:t>
            </a:r>
            <a:endParaRPr lang="en-US" sz="1400" dirty="0"/>
          </a:p>
        </p:txBody>
      </p:sp>
      <p:sp>
        <p:nvSpPr>
          <p:cNvPr id="9" name="Shape 7"/>
          <p:cNvSpPr/>
          <p:nvPr/>
        </p:nvSpPr>
        <p:spPr>
          <a:xfrm>
            <a:off x="868680" y="3794760"/>
            <a:ext cx="10469880" cy="1783080"/>
          </a:xfrm>
          <a:prstGeom prst="roundRect">
            <a:avLst>
              <a:gd name="adj" fmla="val 5128"/>
            </a:avLst>
          </a:prstGeom>
          <a:solidFill>
            <a:srgbClr val="F4F6F6"/>
          </a:solidFill>
          <a:ln/>
        </p:spPr>
      </p:sp>
      <p:sp>
        <p:nvSpPr>
          <p:cNvPr id="10" name="Shape 8"/>
          <p:cNvSpPr/>
          <p:nvPr/>
        </p:nvSpPr>
        <p:spPr>
          <a:xfrm>
            <a:off x="868680" y="3794760"/>
            <a:ext cx="146304" cy="1783080"/>
          </a:xfrm>
          <a:prstGeom prst="rect">
            <a:avLst/>
          </a:prstGeom>
          <a:solidFill>
            <a:srgbClr val="2FA15A"/>
          </a:solidFill>
          <a:ln/>
        </p:spPr>
      </p:sp>
      <p:sp>
        <p:nvSpPr>
          <p:cNvPr id="11" name="Text 9"/>
          <p:cNvSpPr/>
          <p:nvPr/>
        </p:nvSpPr>
        <p:spPr>
          <a:xfrm>
            <a:off x="1188720" y="3977640"/>
            <a:ext cx="10058400" cy="457200"/>
          </a:xfrm>
          <a:prstGeom prst="rect">
            <a:avLst/>
          </a:prstGeom>
          <a:noFill/>
          <a:ln/>
        </p:spPr>
        <p:txBody>
          <a:bodyPr wrap="square" lIns="0" tIns="0" rIns="0" bIns="0" rtlCol="0" anchor="ctr"/>
          <a:lstStyle/>
          <a:p>
            <a:pPr indent="0" marL="0">
              <a:buNone/>
            </a:pPr>
            <a:r>
              <a:rPr lang="en-US" sz="1700" b="1" dirty="0">
                <a:solidFill>
                  <a:srgbClr val="2D2D2D"/>
                </a:solidFill>
                <a:latin typeface="Meiryo" pitchFamily="34" charset="0"/>
                <a:ea typeface="Meiryo" pitchFamily="34" charset="-122"/>
                <a:cs typeface="Meiryo" pitchFamily="34" charset="-120"/>
              </a:rPr>
              <a:t>② ランダムフォレスト</a:t>
            </a:r>
            <a:endParaRPr lang="en-US" sz="1700" dirty="0"/>
          </a:p>
        </p:txBody>
      </p:sp>
      <p:sp>
        <p:nvSpPr>
          <p:cNvPr id="12" name="Text 10"/>
          <p:cNvSpPr/>
          <p:nvPr/>
        </p:nvSpPr>
        <p:spPr>
          <a:xfrm>
            <a:off x="1188720" y="4480560"/>
            <a:ext cx="9966960" cy="1005840"/>
          </a:xfrm>
          <a:prstGeom prst="rect">
            <a:avLst/>
          </a:prstGeom>
          <a:noFill/>
          <a:ln/>
        </p:spPr>
        <p:txBody>
          <a:bodyPr wrap="square" lIns="0" tIns="0" rIns="0" bIns="0" rtlCol="0" anchor="ctr"/>
          <a:lstStyle/>
          <a:p>
            <a:pPr indent="0" marL="0">
              <a:lnSpc>
                <a:spcPct val="115000"/>
              </a:lnSpc>
              <a:buNone/>
            </a:pPr>
            <a:r>
              <a:rPr lang="en-US" sz="1400" b="1" dirty="0">
                <a:solidFill>
                  <a:srgbClr val="2FA15A"/>
                </a:solidFill>
                <a:latin typeface="Meiryo" pitchFamily="34" charset="0"/>
                <a:ea typeface="Meiryo" pitchFamily="34" charset="-122"/>
                <a:cs typeface="Meiryo" pitchFamily="34" charset="-120"/>
              </a:rPr>
              <a:t>なぜ： </a:t>
            </a:r>
            <a:pPr indent="0" marL="0">
              <a:lnSpc>
                <a:spcPct val="115000"/>
              </a:lnSpc>
              <a:buNone/>
            </a:pPr>
            <a:r>
              <a:rPr lang="en-US" sz="1400" dirty="0">
                <a:solidFill>
                  <a:srgbClr val="2D2D2D"/>
                </a:solidFill>
                <a:latin typeface="Meiryo" pitchFamily="34" charset="0"/>
                <a:ea typeface="Meiryo" pitchFamily="34" charset="-122"/>
                <a:cs typeface="Meiryo" pitchFamily="34" charset="-120"/>
              </a:rPr>
              <a:t>「日照が多く、かつ水分が少ないとき糖度が高い」のような条件が組み合わさった非線形な関係を捉えられる。さらに『どの要因が効くか』(特徴量の重要度)が出るので、栽培への示唆に直結する。</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182880" cy="384048"/>
          </a:xfrm>
          <a:prstGeom prst="rect">
            <a:avLst/>
          </a:prstGeom>
          <a:solidFill>
            <a:srgbClr val="E2483D"/>
          </a:solidFill>
          <a:ln/>
        </p:spPr>
      </p:sp>
      <p:sp>
        <p:nvSpPr>
          <p:cNvPr id="3" name="Text 1"/>
          <p:cNvSpPr/>
          <p:nvPr/>
        </p:nvSpPr>
        <p:spPr>
          <a:xfrm>
            <a:off x="868680" y="393192"/>
            <a:ext cx="10607040" cy="640080"/>
          </a:xfrm>
          <a:prstGeom prst="rect">
            <a:avLst/>
          </a:prstGeom>
          <a:noFill/>
          <a:ln/>
        </p:spPr>
        <p:txBody>
          <a:bodyPr wrap="square" lIns="0" tIns="0" rIns="0" bIns="0" rtlCol="0" anchor="ctr"/>
          <a:lstStyle/>
          <a:p>
            <a:pPr indent="0" marL="0">
              <a:buNone/>
            </a:pPr>
            <a:r>
              <a:rPr lang="en-US" sz="2900" b="1" dirty="0">
                <a:solidFill>
                  <a:srgbClr val="2D2D2D"/>
                </a:solidFill>
                <a:latin typeface="Meiryo" pitchFamily="34" charset="0"/>
                <a:ea typeface="Meiryo" pitchFamily="34" charset="-122"/>
                <a:cs typeface="Meiryo" pitchFamily="34" charset="-120"/>
              </a:rPr>
              <a:t>機械学習の進め方 ②</a:t>
            </a:r>
            <a:endParaRPr lang="en-US" sz="2900" dirty="0"/>
          </a:p>
        </p:txBody>
      </p:sp>
      <p:sp>
        <p:nvSpPr>
          <p:cNvPr id="4" name="Text 2"/>
          <p:cNvSpPr/>
          <p:nvPr/>
        </p:nvSpPr>
        <p:spPr>
          <a:xfrm>
            <a:off x="886968" y="1024128"/>
            <a:ext cx="10607040" cy="365760"/>
          </a:xfrm>
          <a:prstGeom prst="rect">
            <a:avLst/>
          </a:prstGeom>
          <a:noFill/>
          <a:ln/>
        </p:spPr>
        <p:txBody>
          <a:bodyPr wrap="square" lIns="0" tIns="0" rIns="0" bIns="0" rtlCol="0" anchor="ctr"/>
          <a:lstStyle/>
          <a:p>
            <a:pPr indent="0" marL="0">
              <a:buNone/>
            </a:pPr>
            <a:r>
              <a:rPr lang="en-US" sz="1350" dirty="0">
                <a:solidFill>
                  <a:srgbClr val="70757A"/>
                </a:solidFill>
                <a:latin typeface="Meiryo" pitchFamily="34" charset="0"/>
                <a:ea typeface="Meiryo" pitchFamily="34" charset="-122"/>
                <a:cs typeface="Meiryo" pitchFamily="34" charset="-120"/>
              </a:rPr>
              <a:t>予測精度と、少データへの強さで使い分ける</a:t>
            </a:r>
            <a:endParaRPr lang="en-US" sz="1350" dirty="0"/>
          </a:p>
        </p:txBody>
      </p:sp>
      <p:sp>
        <p:nvSpPr>
          <p:cNvPr id="5" name="Shape 3"/>
          <p:cNvSpPr/>
          <p:nvPr/>
        </p:nvSpPr>
        <p:spPr>
          <a:xfrm>
            <a:off x="868680" y="1783080"/>
            <a:ext cx="10469880" cy="1783080"/>
          </a:xfrm>
          <a:prstGeom prst="roundRect">
            <a:avLst>
              <a:gd name="adj" fmla="val 5128"/>
            </a:avLst>
          </a:prstGeom>
          <a:solidFill>
            <a:srgbClr val="F4F6F6"/>
          </a:solidFill>
          <a:ln/>
        </p:spPr>
      </p:sp>
      <p:sp>
        <p:nvSpPr>
          <p:cNvPr id="6" name="Shape 4"/>
          <p:cNvSpPr/>
          <p:nvPr/>
        </p:nvSpPr>
        <p:spPr>
          <a:xfrm>
            <a:off x="868680" y="1783080"/>
            <a:ext cx="146304" cy="1783080"/>
          </a:xfrm>
          <a:prstGeom prst="rect">
            <a:avLst/>
          </a:prstGeom>
          <a:solidFill>
            <a:srgbClr val="2F7DD1"/>
          </a:solidFill>
          <a:ln/>
        </p:spPr>
      </p:sp>
      <p:sp>
        <p:nvSpPr>
          <p:cNvPr id="7" name="Text 5"/>
          <p:cNvSpPr/>
          <p:nvPr/>
        </p:nvSpPr>
        <p:spPr>
          <a:xfrm>
            <a:off x="1188720" y="1965960"/>
            <a:ext cx="10058400" cy="457200"/>
          </a:xfrm>
          <a:prstGeom prst="rect">
            <a:avLst/>
          </a:prstGeom>
          <a:noFill/>
          <a:ln/>
        </p:spPr>
        <p:txBody>
          <a:bodyPr wrap="square" lIns="0" tIns="0" rIns="0" bIns="0" rtlCol="0" anchor="ctr"/>
          <a:lstStyle/>
          <a:p>
            <a:pPr indent="0" marL="0">
              <a:buNone/>
            </a:pPr>
            <a:r>
              <a:rPr lang="en-US" sz="1700" b="1" dirty="0">
                <a:solidFill>
                  <a:srgbClr val="2D2D2D"/>
                </a:solidFill>
                <a:latin typeface="Meiryo" pitchFamily="34" charset="0"/>
                <a:ea typeface="Meiryo" pitchFamily="34" charset="-122"/>
                <a:cs typeface="Meiryo" pitchFamily="34" charset="-120"/>
              </a:rPr>
              <a:t>③ LightGBM（勾配ブースティング）</a:t>
            </a:r>
            <a:endParaRPr lang="en-US" sz="1700" dirty="0"/>
          </a:p>
        </p:txBody>
      </p:sp>
      <p:sp>
        <p:nvSpPr>
          <p:cNvPr id="8" name="Text 6"/>
          <p:cNvSpPr/>
          <p:nvPr/>
        </p:nvSpPr>
        <p:spPr>
          <a:xfrm>
            <a:off x="1188720" y="2468880"/>
            <a:ext cx="9966960" cy="1005840"/>
          </a:xfrm>
          <a:prstGeom prst="rect">
            <a:avLst/>
          </a:prstGeom>
          <a:noFill/>
          <a:ln/>
        </p:spPr>
        <p:txBody>
          <a:bodyPr wrap="square" lIns="0" tIns="0" rIns="0" bIns="0" rtlCol="0" anchor="ctr"/>
          <a:lstStyle/>
          <a:p>
            <a:pPr indent="0" marL="0">
              <a:lnSpc>
                <a:spcPct val="115000"/>
              </a:lnSpc>
              <a:buNone/>
            </a:pPr>
            <a:r>
              <a:rPr lang="en-US" sz="1400" b="1" dirty="0">
                <a:solidFill>
                  <a:srgbClr val="2F7DD1"/>
                </a:solidFill>
                <a:latin typeface="Meiryo" pitchFamily="34" charset="0"/>
                <a:ea typeface="Meiryo" pitchFamily="34" charset="-122"/>
                <a:cs typeface="Meiryo" pitchFamily="34" charset="-120"/>
              </a:rPr>
              <a:t>なぜ： </a:t>
            </a:r>
            <a:pPr indent="0" marL="0">
              <a:lnSpc>
                <a:spcPct val="115000"/>
              </a:lnSpc>
              <a:buNone/>
            </a:pPr>
            <a:r>
              <a:rPr lang="en-US" sz="1400" dirty="0">
                <a:solidFill>
                  <a:srgbClr val="2D2D2D"/>
                </a:solidFill>
                <a:latin typeface="Meiryo" pitchFamily="34" charset="0"/>
                <a:ea typeface="Meiryo" pitchFamily="34" charset="-122"/>
                <a:cs typeface="Meiryo" pitchFamily="34" charset="-120"/>
              </a:rPr>
              <a:t>今回のような表形式データに強く、少〜中規模でも高精度。要因どうしの掛け合わせも自動で捉え、学習が速く試行錯誤しやすい。</a:t>
            </a:r>
            <a:endParaRPr lang="en-US" sz="1400" dirty="0"/>
          </a:p>
        </p:txBody>
      </p:sp>
      <p:sp>
        <p:nvSpPr>
          <p:cNvPr id="9" name="Shape 7"/>
          <p:cNvSpPr/>
          <p:nvPr/>
        </p:nvSpPr>
        <p:spPr>
          <a:xfrm>
            <a:off x="868680" y="3794760"/>
            <a:ext cx="10469880" cy="1783080"/>
          </a:xfrm>
          <a:prstGeom prst="roundRect">
            <a:avLst>
              <a:gd name="adj" fmla="val 5128"/>
            </a:avLst>
          </a:prstGeom>
          <a:solidFill>
            <a:srgbClr val="F4F6F6"/>
          </a:solidFill>
          <a:ln/>
        </p:spPr>
      </p:sp>
      <p:sp>
        <p:nvSpPr>
          <p:cNvPr id="10" name="Shape 8"/>
          <p:cNvSpPr/>
          <p:nvPr/>
        </p:nvSpPr>
        <p:spPr>
          <a:xfrm>
            <a:off x="868680" y="3794760"/>
            <a:ext cx="146304" cy="1783080"/>
          </a:xfrm>
          <a:prstGeom prst="rect">
            <a:avLst/>
          </a:prstGeom>
          <a:solidFill>
            <a:srgbClr val="8E5AA8"/>
          </a:solidFill>
          <a:ln/>
        </p:spPr>
      </p:sp>
      <p:sp>
        <p:nvSpPr>
          <p:cNvPr id="11" name="Text 9"/>
          <p:cNvSpPr/>
          <p:nvPr/>
        </p:nvSpPr>
        <p:spPr>
          <a:xfrm>
            <a:off x="1188720" y="3977640"/>
            <a:ext cx="10058400" cy="457200"/>
          </a:xfrm>
          <a:prstGeom prst="rect">
            <a:avLst/>
          </a:prstGeom>
          <a:noFill/>
          <a:ln/>
        </p:spPr>
        <p:txBody>
          <a:bodyPr wrap="square" lIns="0" tIns="0" rIns="0" bIns="0" rtlCol="0" anchor="ctr"/>
          <a:lstStyle/>
          <a:p>
            <a:pPr indent="0" marL="0">
              <a:buNone/>
            </a:pPr>
            <a:r>
              <a:rPr lang="en-US" sz="1700" b="1" dirty="0">
                <a:solidFill>
                  <a:srgbClr val="2D2D2D"/>
                </a:solidFill>
                <a:latin typeface="Meiryo" pitchFamily="34" charset="0"/>
                <a:ea typeface="Meiryo" pitchFamily="34" charset="-122"/>
                <a:cs typeface="Meiryo" pitchFamily="34" charset="-120"/>
              </a:rPr>
              <a:t>④ ガウス過程回帰（GPR）</a:t>
            </a:r>
            <a:endParaRPr lang="en-US" sz="1700" dirty="0"/>
          </a:p>
        </p:txBody>
      </p:sp>
      <p:sp>
        <p:nvSpPr>
          <p:cNvPr id="12" name="Text 10"/>
          <p:cNvSpPr/>
          <p:nvPr/>
        </p:nvSpPr>
        <p:spPr>
          <a:xfrm>
            <a:off x="1188720" y="4480560"/>
            <a:ext cx="9966960" cy="1005840"/>
          </a:xfrm>
          <a:prstGeom prst="rect">
            <a:avLst/>
          </a:prstGeom>
          <a:noFill/>
          <a:ln/>
        </p:spPr>
        <p:txBody>
          <a:bodyPr wrap="square" lIns="0" tIns="0" rIns="0" bIns="0" rtlCol="0" anchor="ctr"/>
          <a:lstStyle/>
          <a:p>
            <a:pPr indent="0" marL="0">
              <a:lnSpc>
                <a:spcPct val="115000"/>
              </a:lnSpc>
              <a:buNone/>
            </a:pPr>
            <a:r>
              <a:rPr lang="en-US" sz="1400" b="1" dirty="0">
                <a:solidFill>
                  <a:srgbClr val="8E5AA8"/>
                </a:solidFill>
                <a:latin typeface="Meiryo" pitchFamily="34" charset="0"/>
                <a:ea typeface="Meiryo" pitchFamily="34" charset="-122"/>
                <a:cs typeface="Meiryo" pitchFamily="34" charset="-120"/>
              </a:rPr>
              <a:t>なぜ： </a:t>
            </a:r>
            <a:pPr indent="0" marL="0">
              <a:lnSpc>
                <a:spcPct val="115000"/>
              </a:lnSpc>
              <a:buNone/>
            </a:pPr>
            <a:r>
              <a:rPr lang="en-US" sz="1400" dirty="0">
                <a:solidFill>
                  <a:srgbClr val="2D2D2D"/>
                </a:solidFill>
                <a:latin typeface="Meiryo" pitchFamily="34" charset="0"/>
                <a:ea typeface="Meiryo" pitchFamily="34" charset="-122"/>
                <a:cs typeface="Meiryo" pitchFamily="34" charset="-120"/>
              </a:rPr>
              <a:t>糖度や収穫量のように測定回数が限られるデータに強い。予測値に加えて『予測の不確かさ』も同時に出せるので、『この条件はまだ確かめられていない』といった栽培判断にも活かせる。</a:t>
            </a:r>
            <a:endParaRPr lang="en-US" sz="1400" dirty="0"/>
          </a:p>
        </p:txBody>
      </p:sp>
      <p:sp>
        <p:nvSpPr>
          <p:cNvPr id="13" name="Text 11"/>
          <p:cNvSpPr/>
          <p:nvPr/>
        </p:nvSpPr>
        <p:spPr>
          <a:xfrm>
            <a:off x="886968" y="5715000"/>
            <a:ext cx="10424160" cy="365760"/>
          </a:xfrm>
          <a:prstGeom prst="rect">
            <a:avLst/>
          </a:prstGeom>
          <a:noFill/>
          <a:ln/>
        </p:spPr>
        <p:txBody>
          <a:bodyPr wrap="square" lIns="0" tIns="0" rIns="0" bIns="0" rtlCol="0" anchor="ctr"/>
          <a:lstStyle/>
          <a:p>
            <a:pPr indent="0" marL="0">
              <a:buNone/>
            </a:pPr>
            <a:r>
              <a:rPr lang="en-US" sz="1250" i="1" dirty="0">
                <a:solidFill>
                  <a:srgbClr val="70757A"/>
                </a:solidFill>
                <a:latin typeface="Meiryo" pitchFamily="34" charset="0"/>
                <a:ea typeface="Meiryo" pitchFamily="34" charset="-122"/>
                <a:cs typeface="Meiryo" pitchFamily="34" charset="-120"/>
              </a:rPr>
              <a:t>ライブラリは Python の scikit-learn などを使用。</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182880" cy="384048"/>
          </a:xfrm>
          <a:prstGeom prst="rect">
            <a:avLst/>
          </a:prstGeom>
          <a:solidFill>
            <a:srgbClr val="E2483D"/>
          </a:solidFill>
          <a:ln/>
        </p:spPr>
      </p:sp>
      <p:sp>
        <p:nvSpPr>
          <p:cNvPr id="3" name="Text 1"/>
          <p:cNvSpPr/>
          <p:nvPr/>
        </p:nvSpPr>
        <p:spPr>
          <a:xfrm>
            <a:off x="868680" y="393192"/>
            <a:ext cx="10607040" cy="640080"/>
          </a:xfrm>
          <a:prstGeom prst="rect">
            <a:avLst/>
          </a:prstGeom>
          <a:noFill/>
          <a:ln/>
        </p:spPr>
        <p:txBody>
          <a:bodyPr wrap="square" lIns="0" tIns="0" rIns="0" bIns="0" rtlCol="0" anchor="ctr"/>
          <a:lstStyle/>
          <a:p>
            <a:pPr indent="0" marL="0">
              <a:buNone/>
            </a:pPr>
            <a:r>
              <a:rPr lang="en-US" sz="2900" b="1" dirty="0">
                <a:solidFill>
                  <a:srgbClr val="2D2D2D"/>
                </a:solidFill>
                <a:latin typeface="Meiryo" pitchFamily="34" charset="0"/>
                <a:ea typeface="Meiryo" pitchFamily="34" charset="-122"/>
                <a:cs typeface="Meiryo" pitchFamily="34" charset="-120"/>
              </a:rPr>
              <a:t>評価方法</a:t>
            </a:r>
            <a:endParaRPr lang="en-US" sz="2900" dirty="0"/>
          </a:p>
        </p:txBody>
      </p:sp>
      <p:sp>
        <p:nvSpPr>
          <p:cNvPr id="4" name="Text 2"/>
          <p:cNvSpPr/>
          <p:nvPr/>
        </p:nvSpPr>
        <p:spPr>
          <a:xfrm>
            <a:off x="886968" y="1024128"/>
            <a:ext cx="10607040" cy="365760"/>
          </a:xfrm>
          <a:prstGeom prst="rect">
            <a:avLst/>
          </a:prstGeom>
          <a:noFill/>
          <a:ln/>
        </p:spPr>
        <p:txBody>
          <a:bodyPr wrap="square" lIns="0" tIns="0" rIns="0" bIns="0" rtlCol="0" anchor="ctr"/>
          <a:lstStyle/>
          <a:p>
            <a:pPr indent="0" marL="0">
              <a:buNone/>
            </a:pPr>
            <a:r>
              <a:rPr lang="en-US" sz="1350" dirty="0">
                <a:solidFill>
                  <a:srgbClr val="70757A"/>
                </a:solidFill>
                <a:latin typeface="Meiryo" pitchFamily="34" charset="0"/>
                <a:ea typeface="Meiryo" pitchFamily="34" charset="-122"/>
                <a:cs typeface="Meiryo" pitchFamily="34" charset="-120"/>
              </a:rPr>
              <a:t>なぜその測り方なのか</a:t>
            </a:r>
            <a:endParaRPr lang="en-US" sz="1350" dirty="0"/>
          </a:p>
        </p:txBody>
      </p:sp>
      <p:sp>
        <p:nvSpPr>
          <p:cNvPr id="5" name="Shape 3"/>
          <p:cNvSpPr/>
          <p:nvPr/>
        </p:nvSpPr>
        <p:spPr>
          <a:xfrm>
            <a:off x="868680" y="1783080"/>
            <a:ext cx="10469880" cy="1783080"/>
          </a:xfrm>
          <a:prstGeom prst="roundRect">
            <a:avLst>
              <a:gd name="adj" fmla="val 5128"/>
            </a:avLst>
          </a:prstGeom>
          <a:solidFill>
            <a:srgbClr val="F4F6F6"/>
          </a:solidFill>
          <a:ln/>
        </p:spPr>
      </p:sp>
      <p:sp>
        <p:nvSpPr>
          <p:cNvPr id="6" name="Shape 4"/>
          <p:cNvSpPr/>
          <p:nvPr/>
        </p:nvSpPr>
        <p:spPr>
          <a:xfrm>
            <a:off x="868680" y="1783080"/>
            <a:ext cx="146304" cy="1783080"/>
          </a:xfrm>
          <a:prstGeom prst="rect">
            <a:avLst/>
          </a:prstGeom>
          <a:solidFill>
            <a:srgbClr val="2FA15A"/>
          </a:solidFill>
          <a:ln/>
        </p:spPr>
      </p:sp>
      <p:sp>
        <p:nvSpPr>
          <p:cNvPr id="7" name="Text 5"/>
          <p:cNvSpPr/>
          <p:nvPr/>
        </p:nvSpPr>
        <p:spPr>
          <a:xfrm>
            <a:off x="1188720" y="1965960"/>
            <a:ext cx="10058400" cy="457200"/>
          </a:xfrm>
          <a:prstGeom prst="rect">
            <a:avLst/>
          </a:prstGeom>
          <a:noFill/>
          <a:ln/>
        </p:spPr>
        <p:txBody>
          <a:bodyPr wrap="square" lIns="0" tIns="0" rIns="0" bIns="0" rtlCol="0" anchor="ctr"/>
          <a:lstStyle/>
          <a:p>
            <a:pPr indent="0" marL="0">
              <a:buNone/>
            </a:pPr>
            <a:r>
              <a:rPr lang="en-US" sz="1700" b="1" dirty="0">
                <a:solidFill>
                  <a:srgbClr val="2D2D2D"/>
                </a:solidFill>
                <a:latin typeface="Meiryo" pitchFamily="34" charset="0"/>
                <a:ea typeface="Meiryo" pitchFamily="34" charset="-122"/>
                <a:cs typeface="Meiryo" pitchFamily="34" charset="-120"/>
              </a:rPr>
              <a:t>時系列で分割して評価（過去で学習・未来で検証）</a:t>
            </a:r>
            <a:endParaRPr lang="en-US" sz="1700" dirty="0"/>
          </a:p>
        </p:txBody>
      </p:sp>
      <p:sp>
        <p:nvSpPr>
          <p:cNvPr id="8" name="Text 6"/>
          <p:cNvSpPr/>
          <p:nvPr/>
        </p:nvSpPr>
        <p:spPr>
          <a:xfrm>
            <a:off x="1188720" y="2468880"/>
            <a:ext cx="9966960" cy="1005840"/>
          </a:xfrm>
          <a:prstGeom prst="rect">
            <a:avLst/>
          </a:prstGeom>
          <a:noFill/>
          <a:ln/>
        </p:spPr>
        <p:txBody>
          <a:bodyPr wrap="square" lIns="0" tIns="0" rIns="0" bIns="0" rtlCol="0" anchor="ctr"/>
          <a:lstStyle/>
          <a:p>
            <a:pPr indent="0" marL="0">
              <a:lnSpc>
                <a:spcPct val="115000"/>
              </a:lnSpc>
              <a:buNone/>
            </a:pPr>
            <a:r>
              <a:rPr lang="en-US" sz="1400" b="1" dirty="0">
                <a:solidFill>
                  <a:srgbClr val="2FA15A"/>
                </a:solidFill>
                <a:latin typeface="Meiryo" pitchFamily="34" charset="0"/>
                <a:ea typeface="Meiryo" pitchFamily="34" charset="-122"/>
                <a:cs typeface="Meiryo" pitchFamily="34" charset="-120"/>
              </a:rPr>
              <a:t>なぜ： </a:t>
            </a:r>
            <a:pPr indent="0" marL="0">
              <a:lnSpc>
                <a:spcPct val="115000"/>
              </a:lnSpc>
              <a:buNone/>
            </a:pPr>
            <a:r>
              <a:rPr lang="en-US" sz="1400" dirty="0">
                <a:solidFill>
                  <a:srgbClr val="2D2D2D"/>
                </a:solidFill>
                <a:latin typeface="Meiryo" pitchFamily="34" charset="0"/>
                <a:ea typeface="Meiryo" pitchFamily="34" charset="-122"/>
                <a:cs typeface="Meiryo" pitchFamily="34" charset="-120"/>
              </a:rPr>
              <a:t>普通のランダム分割だと未来の情報で過去を当てる『ズル(リーク)』が起きる。実際の用途は未来予測なので、時間順で分けないと本当の精度が分からない。</a:t>
            </a:r>
            <a:endParaRPr lang="en-US" sz="1400" dirty="0"/>
          </a:p>
        </p:txBody>
      </p:sp>
      <p:sp>
        <p:nvSpPr>
          <p:cNvPr id="9" name="Shape 7"/>
          <p:cNvSpPr/>
          <p:nvPr/>
        </p:nvSpPr>
        <p:spPr>
          <a:xfrm>
            <a:off x="868680" y="3794760"/>
            <a:ext cx="10469880" cy="1783080"/>
          </a:xfrm>
          <a:prstGeom prst="roundRect">
            <a:avLst>
              <a:gd name="adj" fmla="val 5128"/>
            </a:avLst>
          </a:prstGeom>
          <a:solidFill>
            <a:srgbClr val="F4F6F6"/>
          </a:solidFill>
          <a:ln/>
        </p:spPr>
      </p:sp>
      <p:sp>
        <p:nvSpPr>
          <p:cNvPr id="10" name="Shape 8"/>
          <p:cNvSpPr/>
          <p:nvPr/>
        </p:nvSpPr>
        <p:spPr>
          <a:xfrm>
            <a:off x="868680" y="3794760"/>
            <a:ext cx="146304" cy="1783080"/>
          </a:xfrm>
          <a:prstGeom prst="rect">
            <a:avLst/>
          </a:prstGeom>
          <a:solidFill>
            <a:srgbClr val="E2483D"/>
          </a:solidFill>
          <a:ln/>
        </p:spPr>
      </p:sp>
      <p:sp>
        <p:nvSpPr>
          <p:cNvPr id="11" name="Text 9"/>
          <p:cNvSpPr/>
          <p:nvPr/>
        </p:nvSpPr>
        <p:spPr>
          <a:xfrm>
            <a:off x="1188720" y="3977640"/>
            <a:ext cx="10058400" cy="457200"/>
          </a:xfrm>
          <a:prstGeom prst="rect">
            <a:avLst/>
          </a:prstGeom>
          <a:noFill/>
          <a:ln/>
        </p:spPr>
        <p:txBody>
          <a:bodyPr wrap="square" lIns="0" tIns="0" rIns="0" bIns="0" rtlCol="0" anchor="ctr"/>
          <a:lstStyle/>
          <a:p>
            <a:pPr indent="0" marL="0">
              <a:buNone/>
            </a:pPr>
            <a:r>
              <a:rPr lang="en-US" sz="1700" b="1" dirty="0">
                <a:solidFill>
                  <a:srgbClr val="2D2D2D"/>
                </a:solidFill>
                <a:latin typeface="Meiryo" pitchFamily="34" charset="0"/>
                <a:ea typeface="Meiryo" pitchFamily="34" charset="-122"/>
                <a:cs typeface="Meiryo" pitchFamily="34" charset="-120"/>
              </a:rPr>
              <a:t>指標は MAE と RMSE</a:t>
            </a:r>
            <a:endParaRPr lang="en-US" sz="1700" dirty="0"/>
          </a:p>
        </p:txBody>
      </p:sp>
      <p:sp>
        <p:nvSpPr>
          <p:cNvPr id="12" name="Text 10"/>
          <p:cNvSpPr/>
          <p:nvPr/>
        </p:nvSpPr>
        <p:spPr>
          <a:xfrm>
            <a:off x="1188720" y="4480560"/>
            <a:ext cx="9966960" cy="1005840"/>
          </a:xfrm>
          <a:prstGeom prst="rect">
            <a:avLst/>
          </a:prstGeom>
          <a:noFill/>
          <a:ln/>
        </p:spPr>
        <p:txBody>
          <a:bodyPr wrap="square" lIns="0" tIns="0" rIns="0" bIns="0" rtlCol="0" anchor="ctr"/>
          <a:lstStyle/>
          <a:p>
            <a:pPr indent="0" marL="0">
              <a:lnSpc>
                <a:spcPct val="115000"/>
              </a:lnSpc>
              <a:buNone/>
            </a:pPr>
            <a:r>
              <a:rPr lang="en-US" sz="1400" b="1" dirty="0">
                <a:solidFill>
                  <a:srgbClr val="E2483D"/>
                </a:solidFill>
                <a:latin typeface="Meiryo" pitchFamily="34" charset="0"/>
                <a:ea typeface="Meiryo" pitchFamily="34" charset="-122"/>
                <a:cs typeface="Meiryo" pitchFamily="34" charset="-120"/>
              </a:rPr>
              <a:t>なぜ： </a:t>
            </a:r>
            <a:pPr indent="0" marL="0">
              <a:lnSpc>
                <a:spcPct val="115000"/>
              </a:lnSpc>
              <a:buNone/>
            </a:pPr>
            <a:r>
              <a:rPr lang="en-US" sz="1400" dirty="0">
                <a:solidFill>
                  <a:srgbClr val="2D2D2D"/>
                </a:solidFill>
                <a:latin typeface="Meiryo" pitchFamily="34" charset="0"/>
                <a:ea typeface="Meiryo" pitchFamily="34" charset="-122"/>
                <a:cs typeface="Meiryo" pitchFamily="34" charset="-120"/>
              </a:rPr>
              <a:t>予測と実測のズレを、糖度や個数という直感的な単位で確認できる。大外れを重く見る RMSE と、平均的なズレを見る MAE の両方で評価する。</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182880" cy="384048"/>
          </a:xfrm>
          <a:prstGeom prst="rect">
            <a:avLst/>
          </a:prstGeom>
          <a:solidFill>
            <a:srgbClr val="E2483D"/>
          </a:solidFill>
          <a:ln/>
        </p:spPr>
      </p:sp>
      <p:sp>
        <p:nvSpPr>
          <p:cNvPr id="3" name="Text 1"/>
          <p:cNvSpPr/>
          <p:nvPr/>
        </p:nvSpPr>
        <p:spPr>
          <a:xfrm>
            <a:off x="868680" y="393192"/>
            <a:ext cx="10607040" cy="640080"/>
          </a:xfrm>
          <a:prstGeom prst="rect">
            <a:avLst/>
          </a:prstGeom>
          <a:noFill/>
          <a:ln/>
        </p:spPr>
        <p:txBody>
          <a:bodyPr wrap="square" lIns="0" tIns="0" rIns="0" bIns="0" rtlCol="0" anchor="ctr"/>
          <a:lstStyle/>
          <a:p>
            <a:pPr indent="0" marL="0">
              <a:buNone/>
            </a:pPr>
            <a:r>
              <a:rPr lang="en-US" sz="2900" b="1" dirty="0">
                <a:solidFill>
                  <a:srgbClr val="2D2D2D"/>
                </a:solidFill>
                <a:latin typeface="Meiryo" pitchFamily="34" charset="0"/>
                <a:ea typeface="Meiryo" pitchFamily="34" charset="-122"/>
                <a:cs typeface="Meiryo" pitchFamily="34" charset="-120"/>
              </a:rPr>
              <a:t>データ蓄積とロードマップ</a:t>
            </a:r>
            <a:endParaRPr lang="en-US" sz="2900" dirty="0"/>
          </a:p>
        </p:txBody>
      </p:sp>
      <p:sp>
        <p:nvSpPr>
          <p:cNvPr id="4" name="Text 2"/>
          <p:cNvSpPr/>
          <p:nvPr/>
        </p:nvSpPr>
        <p:spPr>
          <a:xfrm>
            <a:off x="886968" y="1024128"/>
            <a:ext cx="10607040" cy="365760"/>
          </a:xfrm>
          <a:prstGeom prst="rect">
            <a:avLst/>
          </a:prstGeom>
          <a:noFill/>
          <a:ln/>
        </p:spPr>
        <p:txBody>
          <a:bodyPr wrap="square" lIns="0" tIns="0" rIns="0" bIns="0" rtlCol="0" anchor="ctr"/>
          <a:lstStyle/>
          <a:p>
            <a:pPr indent="0" marL="0">
              <a:buNone/>
            </a:pPr>
            <a:r>
              <a:rPr lang="en-US" sz="1350" dirty="0">
                <a:solidFill>
                  <a:srgbClr val="70757A"/>
                </a:solidFill>
                <a:latin typeface="Meiryo" pitchFamily="34" charset="0"/>
                <a:ea typeface="Meiryo" pitchFamily="34" charset="-122"/>
                <a:cs typeface="Meiryo" pitchFamily="34" charset="-120"/>
              </a:rPr>
              <a:t>まずはデータを、着実にためる</a:t>
            </a:r>
            <a:endParaRPr lang="en-US" sz="1350" dirty="0"/>
          </a:p>
        </p:txBody>
      </p:sp>
      <p:sp>
        <p:nvSpPr>
          <p:cNvPr id="5" name="Shape 3"/>
          <p:cNvSpPr/>
          <p:nvPr/>
        </p:nvSpPr>
        <p:spPr>
          <a:xfrm>
            <a:off x="868680" y="1828800"/>
            <a:ext cx="10469880" cy="1097280"/>
          </a:xfrm>
          <a:prstGeom prst="roundRect">
            <a:avLst>
              <a:gd name="adj" fmla="val 8333"/>
            </a:avLst>
          </a:prstGeom>
          <a:solidFill>
            <a:srgbClr val="FCEEEC"/>
          </a:solidFill>
          <a:ln/>
        </p:spPr>
      </p:sp>
      <p:sp>
        <p:nvSpPr>
          <p:cNvPr id="6" name="Text 4"/>
          <p:cNvSpPr/>
          <p:nvPr/>
        </p:nvSpPr>
        <p:spPr>
          <a:xfrm>
            <a:off x="1143000" y="1828800"/>
            <a:ext cx="9966960" cy="1097280"/>
          </a:xfrm>
          <a:prstGeom prst="rect">
            <a:avLst/>
          </a:prstGeom>
          <a:noFill/>
          <a:ln/>
        </p:spPr>
        <p:txBody>
          <a:bodyPr wrap="square" lIns="0" tIns="0" rIns="0" bIns="0" rtlCol="0" anchor="ctr"/>
          <a:lstStyle/>
          <a:p>
            <a:pPr indent="0" marL="0">
              <a:lnSpc>
                <a:spcPct val="110000"/>
              </a:lnSpc>
              <a:buNone/>
            </a:pPr>
            <a:r>
              <a:rPr lang="en-US" sz="1450" b="1" dirty="0">
                <a:solidFill>
                  <a:srgbClr val="E2483D"/>
                </a:solidFill>
                <a:latin typeface="Meiryo" pitchFamily="34" charset="0"/>
                <a:ea typeface="Meiryo" pitchFamily="34" charset="-122"/>
                <a:cs typeface="Meiryo" pitchFamily="34" charset="-120"/>
              </a:rPr>
              <a:t>当面の課題： </a:t>
            </a:r>
            <a:pPr indent="0" marL="0">
              <a:lnSpc>
                <a:spcPct val="110000"/>
              </a:lnSpc>
              <a:buNone/>
            </a:pPr>
            <a:r>
              <a:rPr lang="en-US" sz="1450" dirty="0">
                <a:solidFill>
                  <a:srgbClr val="2D2D2D"/>
                </a:solidFill>
                <a:latin typeface="Meiryo" pitchFamily="34" charset="0"/>
                <a:ea typeface="Meiryo" pitchFamily="34" charset="-122"/>
                <a:cs typeface="Meiryo" pitchFamily="34" charset="-120"/>
              </a:rPr>
              <a:t>機械学習には十分なデータが必要。1日数回の測定を続け、糖度・収穫量とあわせてためる（天気は1日1回自動補完）</a:t>
            </a:r>
            <a:endParaRPr lang="en-US" sz="1450" dirty="0"/>
          </a:p>
        </p:txBody>
      </p:sp>
      <p:sp>
        <p:nvSpPr>
          <p:cNvPr id="7" name="Shape 5"/>
          <p:cNvSpPr/>
          <p:nvPr/>
        </p:nvSpPr>
        <p:spPr>
          <a:xfrm>
            <a:off x="868680" y="3657600"/>
            <a:ext cx="2286000" cy="1280160"/>
          </a:xfrm>
          <a:prstGeom prst="roundRect">
            <a:avLst>
              <a:gd name="adj" fmla="val 7143"/>
            </a:avLst>
          </a:prstGeom>
          <a:solidFill>
            <a:srgbClr val="F4F6F6"/>
          </a:solidFill>
          <a:ln w="19050">
            <a:solidFill>
              <a:srgbClr val="2FA15A"/>
            </a:solidFill>
            <a:prstDash val="solid"/>
          </a:ln>
          <a:effectLst>
            <a:outerShdw sx="100000" sy="100000" kx="0" ky="0" algn="bl" rotWithShape="0" blurRad="101600" dist="25400" dir="8100000">
              <a:srgbClr val="000000">
                <a:alpha val="12000"/>
              </a:srgbClr>
            </a:outerShdw>
          </a:effectLst>
        </p:spPr>
      </p:sp>
      <p:sp>
        <p:nvSpPr>
          <p:cNvPr id="8" name="Text 6"/>
          <p:cNvSpPr/>
          <p:nvPr/>
        </p:nvSpPr>
        <p:spPr>
          <a:xfrm>
            <a:off x="1005840" y="3794760"/>
            <a:ext cx="548640" cy="457200"/>
          </a:xfrm>
          <a:prstGeom prst="rect">
            <a:avLst/>
          </a:prstGeom>
          <a:noFill/>
          <a:ln/>
        </p:spPr>
        <p:txBody>
          <a:bodyPr wrap="square" lIns="0" tIns="0" rIns="0" bIns="0" rtlCol="0" anchor="ctr"/>
          <a:lstStyle/>
          <a:p>
            <a:pPr indent="0" marL="0">
              <a:buNone/>
            </a:pPr>
            <a:r>
              <a:rPr lang="en-US" sz="1800" b="1" dirty="0">
                <a:solidFill>
                  <a:srgbClr val="2FA15A"/>
                </a:solidFill>
                <a:latin typeface="Meiryo" pitchFamily="34" charset="0"/>
                <a:ea typeface="Meiryo" pitchFamily="34" charset="-122"/>
                <a:cs typeface="Meiryo" pitchFamily="34" charset="-120"/>
              </a:rPr>
              <a:t>1</a:t>
            </a:r>
            <a:endParaRPr lang="en-US" sz="1800" dirty="0"/>
          </a:p>
        </p:txBody>
      </p:sp>
      <p:sp>
        <p:nvSpPr>
          <p:cNvPr id="9" name="Text 7"/>
          <p:cNvSpPr/>
          <p:nvPr/>
        </p:nvSpPr>
        <p:spPr>
          <a:xfrm>
            <a:off x="868680" y="4160520"/>
            <a:ext cx="2286000" cy="548640"/>
          </a:xfrm>
          <a:prstGeom prst="rect">
            <a:avLst/>
          </a:prstGeom>
          <a:noFill/>
          <a:ln/>
        </p:spPr>
        <p:txBody>
          <a:bodyPr wrap="square" lIns="0" tIns="0" rIns="0" bIns="0" rtlCol="0" anchor="ctr"/>
          <a:lstStyle/>
          <a:p>
            <a:pPr algn="ctr" indent="0" marL="0">
              <a:buNone/>
            </a:pPr>
            <a:r>
              <a:rPr lang="en-US" sz="1450" b="1" dirty="0">
                <a:solidFill>
                  <a:srgbClr val="2D2D2D"/>
                </a:solidFill>
                <a:latin typeface="Meiryo" pitchFamily="34" charset="0"/>
                <a:ea typeface="Meiryo" pitchFamily="34" charset="-122"/>
                <a:cs typeface="Meiryo" pitchFamily="34" charset="-120"/>
              </a:rPr>
              <a:t>データ蓄積</a:t>
            </a:r>
            <a:endParaRPr lang="en-US" sz="1450" dirty="0"/>
          </a:p>
        </p:txBody>
      </p:sp>
      <p:sp>
        <p:nvSpPr>
          <p:cNvPr id="10" name="Shape 8"/>
          <p:cNvSpPr/>
          <p:nvPr/>
        </p:nvSpPr>
        <p:spPr>
          <a:xfrm>
            <a:off x="3154680" y="4297680"/>
            <a:ext cx="411480" cy="0"/>
          </a:xfrm>
          <a:prstGeom prst="line">
            <a:avLst/>
          </a:prstGeom>
          <a:noFill/>
          <a:ln w="25400">
            <a:solidFill>
              <a:srgbClr val="70757A"/>
            </a:solidFill>
            <a:prstDash val="solid"/>
            <a:tailEnd type="triangle"/>
          </a:ln>
        </p:spPr>
      </p:sp>
      <p:sp>
        <p:nvSpPr>
          <p:cNvPr id="11" name="Shape 9"/>
          <p:cNvSpPr/>
          <p:nvPr/>
        </p:nvSpPr>
        <p:spPr>
          <a:xfrm>
            <a:off x="3566160" y="3657600"/>
            <a:ext cx="2286000" cy="1280160"/>
          </a:xfrm>
          <a:prstGeom prst="roundRect">
            <a:avLst>
              <a:gd name="adj" fmla="val 7143"/>
            </a:avLst>
          </a:prstGeom>
          <a:solidFill>
            <a:srgbClr val="F4F6F6"/>
          </a:solidFill>
          <a:ln w="19050">
            <a:solidFill>
              <a:srgbClr val="2FA15A"/>
            </a:solidFill>
            <a:prstDash val="solid"/>
          </a:ln>
          <a:effectLst>
            <a:outerShdw sx="100000" sy="100000" kx="0" ky="0" algn="bl" rotWithShape="0" blurRad="101600" dist="25400" dir="8100000">
              <a:srgbClr val="000000">
                <a:alpha val="12000"/>
              </a:srgbClr>
            </a:outerShdw>
          </a:effectLst>
        </p:spPr>
      </p:sp>
      <p:sp>
        <p:nvSpPr>
          <p:cNvPr id="12" name="Text 10"/>
          <p:cNvSpPr/>
          <p:nvPr/>
        </p:nvSpPr>
        <p:spPr>
          <a:xfrm>
            <a:off x="3703320" y="3794760"/>
            <a:ext cx="548640" cy="457200"/>
          </a:xfrm>
          <a:prstGeom prst="rect">
            <a:avLst/>
          </a:prstGeom>
          <a:noFill/>
          <a:ln/>
        </p:spPr>
        <p:txBody>
          <a:bodyPr wrap="square" lIns="0" tIns="0" rIns="0" bIns="0" rtlCol="0" anchor="ctr"/>
          <a:lstStyle/>
          <a:p>
            <a:pPr indent="0" marL="0">
              <a:buNone/>
            </a:pPr>
            <a:r>
              <a:rPr lang="en-US" sz="1800" b="1" dirty="0">
                <a:solidFill>
                  <a:srgbClr val="2FA15A"/>
                </a:solidFill>
                <a:latin typeface="Meiryo" pitchFamily="34" charset="0"/>
                <a:ea typeface="Meiryo" pitchFamily="34" charset="-122"/>
                <a:cs typeface="Meiryo" pitchFamily="34" charset="-120"/>
              </a:rPr>
              <a:t>2</a:t>
            </a:r>
            <a:endParaRPr lang="en-US" sz="1800" dirty="0"/>
          </a:p>
        </p:txBody>
      </p:sp>
      <p:sp>
        <p:nvSpPr>
          <p:cNvPr id="13" name="Text 11"/>
          <p:cNvSpPr/>
          <p:nvPr/>
        </p:nvSpPr>
        <p:spPr>
          <a:xfrm>
            <a:off x="3566160" y="4160520"/>
            <a:ext cx="2286000" cy="548640"/>
          </a:xfrm>
          <a:prstGeom prst="rect">
            <a:avLst/>
          </a:prstGeom>
          <a:noFill/>
          <a:ln/>
        </p:spPr>
        <p:txBody>
          <a:bodyPr wrap="square" lIns="0" tIns="0" rIns="0" bIns="0" rtlCol="0" anchor="ctr"/>
          <a:lstStyle/>
          <a:p>
            <a:pPr algn="ctr" indent="0" marL="0">
              <a:buNone/>
            </a:pPr>
            <a:r>
              <a:rPr lang="en-US" sz="1450" b="1" dirty="0">
                <a:solidFill>
                  <a:srgbClr val="2D2D2D"/>
                </a:solidFill>
                <a:latin typeface="Meiryo" pitchFamily="34" charset="0"/>
                <a:ea typeface="Meiryo" pitchFamily="34" charset="-122"/>
                <a:cs typeface="Meiryo" pitchFamily="34" charset="-120"/>
              </a:rPr>
              <a:t>モデル試作</a:t>
            </a:r>
            <a:endParaRPr lang="en-US" sz="1450" dirty="0"/>
          </a:p>
        </p:txBody>
      </p:sp>
      <p:sp>
        <p:nvSpPr>
          <p:cNvPr id="14" name="Shape 12"/>
          <p:cNvSpPr/>
          <p:nvPr/>
        </p:nvSpPr>
        <p:spPr>
          <a:xfrm>
            <a:off x="5852160" y="4297680"/>
            <a:ext cx="411480" cy="0"/>
          </a:xfrm>
          <a:prstGeom prst="line">
            <a:avLst/>
          </a:prstGeom>
          <a:noFill/>
          <a:ln w="25400">
            <a:solidFill>
              <a:srgbClr val="70757A"/>
            </a:solidFill>
            <a:prstDash val="solid"/>
            <a:tailEnd type="triangle"/>
          </a:ln>
        </p:spPr>
      </p:sp>
      <p:sp>
        <p:nvSpPr>
          <p:cNvPr id="15" name="Shape 13"/>
          <p:cNvSpPr/>
          <p:nvPr/>
        </p:nvSpPr>
        <p:spPr>
          <a:xfrm>
            <a:off x="6263640" y="3657600"/>
            <a:ext cx="2286000" cy="1280160"/>
          </a:xfrm>
          <a:prstGeom prst="roundRect">
            <a:avLst>
              <a:gd name="adj" fmla="val 7143"/>
            </a:avLst>
          </a:prstGeom>
          <a:solidFill>
            <a:srgbClr val="F4F6F6"/>
          </a:solidFill>
          <a:ln w="19050">
            <a:solidFill>
              <a:srgbClr val="2FA15A"/>
            </a:solidFill>
            <a:prstDash val="solid"/>
          </a:ln>
          <a:effectLst>
            <a:outerShdw sx="100000" sy="100000" kx="0" ky="0" algn="bl" rotWithShape="0" blurRad="101600" dist="25400" dir="8100000">
              <a:srgbClr val="000000">
                <a:alpha val="12000"/>
              </a:srgbClr>
            </a:outerShdw>
          </a:effectLst>
        </p:spPr>
      </p:sp>
      <p:sp>
        <p:nvSpPr>
          <p:cNvPr id="16" name="Text 14"/>
          <p:cNvSpPr/>
          <p:nvPr/>
        </p:nvSpPr>
        <p:spPr>
          <a:xfrm>
            <a:off x="6400800" y="3794760"/>
            <a:ext cx="548640" cy="457200"/>
          </a:xfrm>
          <a:prstGeom prst="rect">
            <a:avLst/>
          </a:prstGeom>
          <a:noFill/>
          <a:ln/>
        </p:spPr>
        <p:txBody>
          <a:bodyPr wrap="square" lIns="0" tIns="0" rIns="0" bIns="0" rtlCol="0" anchor="ctr"/>
          <a:lstStyle/>
          <a:p>
            <a:pPr indent="0" marL="0">
              <a:buNone/>
            </a:pPr>
            <a:r>
              <a:rPr lang="en-US" sz="1800" b="1" dirty="0">
                <a:solidFill>
                  <a:srgbClr val="2FA15A"/>
                </a:solidFill>
                <a:latin typeface="Meiryo" pitchFamily="34" charset="0"/>
                <a:ea typeface="Meiryo" pitchFamily="34" charset="-122"/>
                <a:cs typeface="Meiryo" pitchFamily="34" charset="-120"/>
              </a:rPr>
              <a:t>3</a:t>
            </a:r>
            <a:endParaRPr lang="en-US" sz="1800" dirty="0"/>
          </a:p>
        </p:txBody>
      </p:sp>
      <p:sp>
        <p:nvSpPr>
          <p:cNvPr id="17" name="Text 15"/>
          <p:cNvSpPr/>
          <p:nvPr/>
        </p:nvSpPr>
        <p:spPr>
          <a:xfrm>
            <a:off x="6263640" y="4160520"/>
            <a:ext cx="2286000" cy="548640"/>
          </a:xfrm>
          <a:prstGeom prst="rect">
            <a:avLst/>
          </a:prstGeom>
          <a:noFill/>
          <a:ln/>
        </p:spPr>
        <p:txBody>
          <a:bodyPr wrap="square" lIns="0" tIns="0" rIns="0" bIns="0" rtlCol="0" anchor="ctr"/>
          <a:lstStyle/>
          <a:p>
            <a:pPr algn="ctr" indent="0" marL="0">
              <a:buNone/>
            </a:pPr>
            <a:r>
              <a:rPr lang="en-US" sz="1450" b="1" dirty="0">
                <a:solidFill>
                  <a:srgbClr val="2D2D2D"/>
                </a:solidFill>
                <a:latin typeface="Meiryo" pitchFamily="34" charset="0"/>
                <a:ea typeface="Meiryo" pitchFamily="34" charset="-122"/>
                <a:cs typeface="Meiryo" pitchFamily="34" charset="-120"/>
              </a:rPr>
              <a:t>時系列で検証</a:t>
            </a:r>
            <a:endParaRPr lang="en-US" sz="1450" dirty="0"/>
          </a:p>
        </p:txBody>
      </p:sp>
      <p:sp>
        <p:nvSpPr>
          <p:cNvPr id="18" name="Shape 16"/>
          <p:cNvSpPr/>
          <p:nvPr/>
        </p:nvSpPr>
        <p:spPr>
          <a:xfrm>
            <a:off x="8549640" y="4297680"/>
            <a:ext cx="411480" cy="0"/>
          </a:xfrm>
          <a:prstGeom prst="line">
            <a:avLst/>
          </a:prstGeom>
          <a:noFill/>
          <a:ln w="25400">
            <a:solidFill>
              <a:srgbClr val="70757A"/>
            </a:solidFill>
            <a:prstDash val="solid"/>
            <a:tailEnd type="triangle"/>
          </a:ln>
        </p:spPr>
      </p:sp>
      <p:sp>
        <p:nvSpPr>
          <p:cNvPr id="19" name="Shape 17"/>
          <p:cNvSpPr/>
          <p:nvPr/>
        </p:nvSpPr>
        <p:spPr>
          <a:xfrm>
            <a:off x="8961120" y="3657600"/>
            <a:ext cx="2286000" cy="1280160"/>
          </a:xfrm>
          <a:prstGeom prst="roundRect">
            <a:avLst>
              <a:gd name="adj" fmla="val 7143"/>
            </a:avLst>
          </a:prstGeom>
          <a:solidFill>
            <a:srgbClr val="F4F6F6"/>
          </a:solidFill>
          <a:ln w="19050">
            <a:solidFill>
              <a:srgbClr val="2FA15A"/>
            </a:solidFill>
            <a:prstDash val="solid"/>
          </a:ln>
          <a:effectLst>
            <a:outerShdw sx="100000" sy="100000" kx="0" ky="0" algn="bl" rotWithShape="0" blurRad="101600" dist="25400" dir="8100000">
              <a:srgbClr val="000000">
                <a:alpha val="12000"/>
              </a:srgbClr>
            </a:outerShdw>
          </a:effectLst>
        </p:spPr>
      </p:sp>
      <p:sp>
        <p:nvSpPr>
          <p:cNvPr id="20" name="Text 18"/>
          <p:cNvSpPr/>
          <p:nvPr/>
        </p:nvSpPr>
        <p:spPr>
          <a:xfrm>
            <a:off x="9098280" y="3794760"/>
            <a:ext cx="548640" cy="457200"/>
          </a:xfrm>
          <a:prstGeom prst="rect">
            <a:avLst/>
          </a:prstGeom>
          <a:noFill/>
          <a:ln/>
        </p:spPr>
        <p:txBody>
          <a:bodyPr wrap="square" lIns="0" tIns="0" rIns="0" bIns="0" rtlCol="0" anchor="ctr"/>
          <a:lstStyle/>
          <a:p>
            <a:pPr indent="0" marL="0">
              <a:buNone/>
            </a:pPr>
            <a:r>
              <a:rPr lang="en-US" sz="1800" b="1" dirty="0">
                <a:solidFill>
                  <a:srgbClr val="2FA15A"/>
                </a:solidFill>
                <a:latin typeface="Meiryo" pitchFamily="34" charset="0"/>
                <a:ea typeface="Meiryo" pitchFamily="34" charset="-122"/>
                <a:cs typeface="Meiryo" pitchFamily="34" charset="-120"/>
              </a:rPr>
              <a:t>4</a:t>
            </a:r>
            <a:endParaRPr lang="en-US" sz="1800" dirty="0"/>
          </a:p>
        </p:txBody>
      </p:sp>
      <p:sp>
        <p:nvSpPr>
          <p:cNvPr id="21" name="Text 19"/>
          <p:cNvSpPr/>
          <p:nvPr/>
        </p:nvSpPr>
        <p:spPr>
          <a:xfrm>
            <a:off x="8961120" y="4160520"/>
            <a:ext cx="2286000" cy="548640"/>
          </a:xfrm>
          <a:prstGeom prst="rect">
            <a:avLst/>
          </a:prstGeom>
          <a:noFill/>
          <a:ln/>
        </p:spPr>
        <p:txBody>
          <a:bodyPr wrap="square" lIns="0" tIns="0" rIns="0" bIns="0" rtlCol="0" anchor="ctr"/>
          <a:lstStyle/>
          <a:p>
            <a:pPr algn="ctr" indent="0" marL="0">
              <a:buNone/>
            </a:pPr>
            <a:r>
              <a:rPr lang="en-US" sz="1450" b="1" dirty="0">
                <a:solidFill>
                  <a:srgbClr val="2D2D2D"/>
                </a:solidFill>
                <a:latin typeface="Meiryo" pitchFamily="34" charset="0"/>
                <a:ea typeface="Meiryo" pitchFamily="34" charset="-122"/>
                <a:cs typeface="Meiryo" pitchFamily="34" charset="-120"/>
              </a:rPr>
              <a:t>改善</a:t>
            </a:r>
            <a:endParaRPr lang="en-US" sz="14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182880" cy="384048"/>
          </a:xfrm>
          <a:prstGeom prst="rect">
            <a:avLst/>
          </a:prstGeom>
          <a:solidFill>
            <a:srgbClr val="E2483D"/>
          </a:solidFill>
          <a:ln/>
        </p:spPr>
      </p:sp>
      <p:sp>
        <p:nvSpPr>
          <p:cNvPr id="3" name="Text 1"/>
          <p:cNvSpPr/>
          <p:nvPr/>
        </p:nvSpPr>
        <p:spPr>
          <a:xfrm>
            <a:off x="868680" y="393192"/>
            <a:ext cx="10607040" cy="640080"/>
          </a:xfrm>
          <a:prstGeom prst="rect">
            <a:avLst/>
          </a:prstGeom>
          <a:noFill/>
          <a:ln/>
        </p:spPr>
        <p:txBody>
          <a:bodyPr wrap="square" lIns="0" tIns="0" rIns="0" bIns="0" rtlCol="0" anchor="ctr"/>
          <a:lstStyle/>
          <a:p>
            <a:pPr indent="0" marL="0">
              <a:buNone/>
            </a:pPr>
            <a:r>
              <a:rPr lang="en-US" sz="2900" b="1" dirty="0">
                <a:solidFill>
                  <a:srgbClr val="2D2D2D"/>
                </a:solidFill>
                <a:latin typeface="Meiryo" pitchFamily="34" charset="0"/>
                <a:ea typeface="Meiryo" pitchFamily="34" charset="-122"/>
                <a:cs typeface="Meiryo" pitchFamily="34" charset="-120"/>
              </a:rPr>
              <a:t>まとめ</a:t>
            </a:r>
            <a:endParaRPr lang="en-US" sz="2900" dirty="0"/>
          </a:p>
        </p:txBody>
      </p:sp>
      <p:sp>
        <p:nvSpPr>
          <p:cNvPr id="4" name="Shape 2"/>
          <p:cNvSpPr/>
          <p:nvPr/>
        </p:nvSpPr>
        <p:spPr>
          <a:xfrm>
            <a:off x="868680" y="1554480"/>
            <a:ext cx="5166360" cy="3108960"/>
          </a:xfrm>
          <a:prstGeom prst="roundRect">
            <a:avLst>
              <a:gd name="adj" fmla="val 2941"/>
            </a:avLst>
          </a:prstGeom>
          <a:solidFill>
            <a:srgbClr val="F4F6F6"/>
          </a:solidFill>
          <a:ln/>
        </p:spPr>
      </p:sp>
      <p:sp>
        <p:nvSpPr>
          <p:cNvPr id="5" name="Shape 3"/>
          <p:cNvSpPr/>
          <p:nvPr/>
        </p:nvSpPr>
        <p:spPr>
          <a:xfrm>
            <a:off x="868680" y="1554480"/>
            <a:ext cx="146304" cy="3108960"/>
          </a:xfrm>
          <a:prstGeom prst="rect">
            <a:avLst/>
          </a:prstGeom>
          <a:solidFill>
            <a:srgbClr val="2FA15A"/>
          </a:solidFill>
          <a:ln/>
        </p:spPr>
      </p:sp>
      <p:sp>
        <p:nvSpPr>
          <p:cNvPr id="6" name="Text 4"/>
          <p:cNvSpPr/>
          <p:nvPr/>
        </p:nvSpPr>
        <p:spPr>
          <a:xfrm>
            <a:off x="1188720" y="1783080"/>
            <a:ext cx="4572000" cy="457200"/>
          </a:xfrm>
          <a:prstGeom prst="rect">
            <a:avLst/>
          </a:prstGeom>
          <a:noFill/>
          <a:ln/>
        </p:spPr>
        <p:txBody>
          <a:bodyPr wrap="square" lIns="0" tIns="0" rIns="0" bIns="0" rtlCol="0" anchor="ctr"/>
          <a:lstStyle/>
          <a:p>
            <a:pPr indent="0" marL="0">
              <a:buNone/>
            </a:pPr>
            <a:r>
              <a:rPr lang="en-US" sz="1800" b="1" dirty="0">
                <a:solidFill>
                  <a:srgbClr val="2FA15A"/>
                </a:solidFill>
                <a:latin typeface="Meiryo" pitchFamily="34" charset="0"/>
                <a:ea typeface="Meiryo" pitchFamily="34" charset="-122"/>
                <a:cs typeface="Meiryo" pitchFamily="34" charset="-120"/>
              </a:rPr>
              <a:t>前期（できたこと）</a:t>
            </a:r>
            <a:endParaRPr lang="en-US" sz="1800" dirty="0"/>
          </a:p>
        </p:txBody>
      </p:sp>
      <p:sp>
        <p:nvSpPr>
          <p:cNvPr id="7" name="Text 5"/>
          <p:cNvSpPr/>
          <p:nvPr/>
        </p:nvSpPr>
        <p:spPr>
          <a:xfrm>
            <a:off x="1234440" y="2331720"/>
            <a:ext cx="4663440" cy="2194560"/>
          </a:xfrm>
          <a:prstGeom prst="rect">
            <a:avLst/>
          </a:prstGeom>
          <a:noFill/>
          <a:ln/>
        </p:spPr>
        <p:txBody>
          <a:bodyPr wrap="square" lIns="0" tIns="0" rIns="0" bIns="0" rtlCol="0" anchor="ctr"/>
          <a:lstStyle/>
          <a:p>
            <a:pPr marL="342900" indent="-342900">
              <a:spcAft>
                <a:spcPts val="900"/>
              </a:spcAft>
              <a:buSzPct val="100000"/>
              <a:buChar char="•"/>
            </a:pPr>
            <a:r>
              <a:rPr lang="en-US" sz="1350" dirty="0">
                <a:solidFill>
                  <a:srgbClr val="2D2D2D"/>
                </a:solidFill>
                <a:latin typeface="Meiryo" pitchFamily="34" charset="0"/>
                <a:ea typeface="Meiryo" pitchFamily="34" charset="-122"/>
                <a:cs typeface="Meiryo" pitchFamily="34" charset="-120"/>
              </a:rPr>
              <a:t>「測る・ためる・見せる」を一通り構築</a:t>
            </a:r>
            <a:endParaRPr lang="en-US" sz="1350" dirty="0"/>
          </a:p>
          <a:p>
            <a:pPr marL="342900" indent="-342900">
              <a:spcAft>
                <a:spcPts val="900"/>
              </a:spcAft>
              <a:buSzPct val="100000"/>
              <a:buChar char="•"/>
            </a:pPr>
            <a:r>
              <a:rPr lang="en-US" sz="1350" dirty="0">
                <a:solidFill>
                  <a:srgbClr val="2D2D2D"/>
                </a:solidFill>
                <a:latin typeface="Meiryo" pitchFamily="34" charset="0"/>
                <a:ea typeface="Meiryo" pitchFamily="34" charset="-122"/>
                <a:cs typeface="Meiryo" pitchFamily="34" charset="-120"/>
              </a:rPr>
              <a:t>通信・写真形式などの課題を解決</a:t>
            </a:r>
            <a:endParaRPr lang="en-US" sz="1350" dirty="0"/>
          </a:p>
          <a:p>
            <a:pPr marL="342900" indent="-342900">
              <a:spcAft>
                <a:spcPts val="900"/>
              </a:spcAft>
              <a:buSzPct val="100000"/>
              <a:buChar char="•"/>
            </a:pPr>
            <a:r>
              <a:rPr lang="en-US" sz="1350" dirty="0">
                <a:solidFill>
                  <a:srgbClr val="2D2D2D"/>
                </a:solidFill>
                <a:latin typeface="Meiryo" pitchFamily="34" charset="0"/>
                <a:ea typeface="Meiryo" pitchFamily="34" charset="-122"/>
                <a:cs typeface="Meiryo" pitchFamily="34" charset="-120"/>
              </a:rPr>
              <a:t>1株3本平均など精度の工夫</a:t>
            </a:r>
            <a:endParaRPr lang="en-US" sz="1350" dirty="0"/>
          </a:p>
        </p:txBody>
      </p:sp>
      <p:sp>
        <p:nvSpPr>
          <p:cNvPr id="8" name="Shape 6"/>
          <p:cNvSpPr/>
          <p:nvPr/>
        </p:nvSpPr>
        <p:spPr>
          <a:xfrm>
            <a:off x="6263640" y="1554480"/>
            <a:ext cx="5074920" cy="3108960"/>
          </a:xfrm>
          <a:prstGeom prst="roundRect">
            <a:avLst>
              <a:gd name="adj" fmla="val 2941"/>
            </a:avLst>
          </a:prstGeom>
          <a:solidFill>
            <a:srgbClr val="FCEEEC"/>
          </a:solidFill>
          <a:ln/>
        </p:spPr>
      </p:sp>
      <p:sp>
        <p:nvSpPr>
          <p:cNvPr id="9" name="Shape 7"/>
          <p:cNvSpPr/>
          <p:nvPr/>
        </p:nvSpPr>
        <p:spPr>
          <a:xfrm>
            <a:off x="6263640" y="1554480"/>
            <a:ext cx="146304" cy="3108960"/>
          </a:xfrm>
          <a:prstGeom prst="rect">
            <a:avLst/>
          </a:prstGeom>
          <a:solidFill>
            <a:srgbClr val="E2483D"/>
          </a:solidFill>
          <a:ln/>
        </p:spPr>
      </p:sp>
      <p:sp>
        <p:nvSpPr>
          <p:cNvPr id="10" name="Text 8"/>
          <p:cNvSpPr/>
          <p:nvPr/>
        </p:nvSpPr>
        <p:spPr>
          <a:xfrm>
            <a:off x="6583680" y="1783080"/>
            <a:ext cx="4572000" cy="457200"/>
          </a:xfrm>
          <a:prstGeom prst="rect">
            <a:avLst/>
          </a:prstGeom>
          <a:noFill/>
          <a:ln/>
        </p:spPr>
        <p:txBody>
          <a:bodyPr wrap="square" lIns="0" tIns="0" rIns="0" bIns="0" rtlCol="0" anchor="ctr"/>
          <a:lstStyle/>
          <a:p>
            <a:pPr indent="0" marL="0">
              <a:buNone/>
            </a:pPr>
            <a:r>
              <a:rPr lang="en-US" sz="1800" b="1" dirty="0">
                <a:solidFill>
                  <a:srgbClr val="E2483D"/>
                </a:solidFill>
                <a:latin typeface="Meiryo" pitchFamily="34" charset="0"/>
                <a:ea typeface="Meiryo" pitchFamily="34" charset="-122"/>
                <a:cs typeface="Meiryo" pitchFamily="34" charset="-120"/>
              </a:rPr>
              <a:t>後期（これから）</a:t>
            </a:r>
            <a:endParaRPr lang="en-US" sz="1800" dirty="0"/>
          </a:p>
        </p:txBody>
      </p:sp>
      <p:sp>
        <p:nvSpPr>
          <p:cNvPr id="11" name="Text 9"/>
          <p:cNvSpPr/>
          <p:nvPr/>
        </p:nvSpPr>
        <p:spPr>
          <a:xfrm>
            <a:off x="6629400" y="2331720"/>
            <a:ext cx="4572000" cy="2194560"/>
          </a:xfrm>
          <a:prstGeom prst="rect">
            <a:avLst/>
          </a:prstGeom>
          <a:noFill/>
          <a:ln/>
        </p:spPr>
        <p:txBody>
          <a:bodyPr wrap="square" lIns="0" tIns="0" rIns="0" bIns="0" rtlCol="0" anchor="ctr"/>
          <a:lstStyle/>
          <a:p>
            <a:pPr marL="342900" indent="-342900">
              <a:spcAft>
                <a:spcPts val="900"/>
              </a:spcAft>
              <a:buSzPct val="100000"/>
              <a:buChar char="•"/>
            </a:pPr>
            <a:r>
              <a:rPr lang="en-US" sz="1350" dirty="0">
                <a:solidFill>
                  <a:srgbClr val="2D2D2D"/>
                </a:solidFill>
                <a:latin typeface="Meiryo" pitchFamily="34" charset="0"/>
                <a:ea typeface="Meiryo" pitchFamily="34" charset="-122"/>
                <a:cs typeface="Meiryo" pitchFamily="34" charset="-120"/>
              </a:rPr>
              <a:t>ためたデータを機械学習に活用</a:t>
            </a:r>
            <a:endParaRPr lang="en-US" sz="1350" dirty="0"/>
          </a:p>
          <a:p>
            <a:pPr marL="342900" indent="-342900">
              <a:spcAft>
                <a:spcPts val="900"/>
              </a:spcAft>
              <a:buSzPct val="100000"/>
              <a:buChar char="•"/>
            </a:pPr>
            <a:r>
              <a:rPr lang="en-US" sz="1350" dirty="0">
                <a:solidFill>
                  <a:srgbClr val="2D2D2D"/>
                </a:solidFill>
                <a:latin typeface="Meiryo" pitchFamily="34" charset="0"/>
                <a:ea typeface="Meiryo" pitchFamily="34" charset="-122"/>
                <a:cs typeface="Meiryo" pitchFamily="34" charset="-120"/>
              </a:rPr>
              <a:t>糖度と収穫量を高める育て方を見つける</a:t>
            </a:r>
            <a:endParaRPr lang="en-US" sz="1350" dirty="0"/>
          </a:p>
          <a:p>
            <a:pPr marL="342900" indent="-342900">
              <a:spcAft>
                <a:spcPts val="900"/>
              </a:spcAft>
              <a:buSzPct val="100000"/>
              <a:buChar char="•"/>
            </a:pPr>
            <a:r>
              <a:rPr lang="en-US" sz="1350" dirty="0">
                <a:solidFill>
                  <a:srgbClr val="2D2D2D"/>
                </a:solidFill>
                <a:latin typeface="Meiryo" pitchFamily="34" charset="0"/>
                <a:ea typeface="Meiryo" pitchFamily="34" charset="-122"/>
                <a:cs typeface="Meiryo" pitchFamily="34" charset="-120"/>
              </a:rPr>
              <a:t>理由を持って手法を選び、段階的に進める</a:t>
            </a:r>
            <a:endParaRPr lang="en-US" sz="1350" dirty="0"/>
          </a:p>
        </p:txBody>
      </p:sp>
      <p:sp>
        <p:nvSpPr>
          <p:cNvPr id="12" name="Text 10"/>
          <p:cNvSpPr/>
          <p:nvPr/>
        </p:nvSpPr>
        <p:spPr>
          <a:xfrm>
            <a:off x="868680" y="5029200"/>
            <a:ext cx="10469880" cy="640080"/>
          </a:xfrm>
          <a:prstGeom prst="rect">
            <a:avLst/>
          </a:prstGeom>
          <a:noFill/>
          <a:ln/>
        </p:spPr>
        <p:txBody>
          <a:bodyPr wrap="square" lIns="0" tIns="0" rIns="0" bIns="0" rtlCol="0" anchor="ctr"/>
          <a:lstStyle/>
          <a:p>
            <a:pPr algn="ctr" indent="0" marL="0">
              <a:buNone/>
            </a:pPr>
            <a:r>
              <a:rPr lang="en-US" sz="2200" b="1" dirty="0">
                <a:solidFill>
                  <a:srgbClr val="2D2D2D"/>
                </a:solidFill>
                <a:latin typeface="Meiryo" pitchFamily="34" charset="0"/>
                <a:ea typeface="Meiryo" pitchFamily="34" charset="-122"/>
                <a:cs typeface="Meiryo" pitchFamily="34" charset="-120"/>
              </a:rPr>
              <a:t>データに基づくトマト栽培へ</a:t>
            </a:r>
            <a:endParaRPr lang="en-US" sz="2200" dirty="0"/>
          </a:p>
        </p:txBody>
      </p:sp>
      <p:sp>
        <p:nvSpPr>
          <p:cNvPr id="13" name="Text 11"/>
          <p:cNvSpPr/>
          <p:nvPr/>
        </p:nvSpPr>
        <p:spPr>
          <a:xfrm>
            <a:off x="868680" y="5897880"/>
            <a:ext cx="10469880" cy="365760"/>
          </a:xfrm>
          <a:prstGeom prst="rect">
            <a:avLst/>
          </a:prstGeom>
          <a:noFill/>
          <a:ln/>
        </p:spPr>
        <p:txBody>
          <a:bodyPr wrap="square" lIns="0" tIns="0" rIns="0" bIns="0" rtlCol="0" anchor="ctr"/>
          <a:lstStyle/>
          <a:p>
            <a:pPr algn="ctr" indent="0" marL="0">
              <a:buNone/>
            </a:pPr>
            <a:r>
              <a:rPr lang="en-US" sz="1200" dirty="0">
                <a:solidFill>
                  <a:srgbClr val="70757A"/>
                </a:solidFill>
                <a:latin typeface="Meiryo" pitchFamily="34" charset="0"/>
                <a:ea typeface="Meiryo" pitchFamily="34" charset="-122"/>
                <a:cs typeface="Meiryo" pitchFamily="34" charset="-120"/>
              </a:rPr>
              <a:t>ご清聴ありがとうございました　／　18124058 河村隼介</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トマト栽培データモニタリングシステム</dc:title>
  <dc:subject>PptxGenJS Presentation</dc:subject>
  <dc:creator>河村隼介</dc:creator>
  <cp:lastModifiedBy>河村隼介</cp:lastModifiedBy>
  <cp:revision>1</cp:revision>
  <dcterms:created xsi:type="dcterms:W3CDTF">2026-05-28T07:25:15Z</dcterms:created>
  <dcterms:modified xsi:type="dcterms:W3CDTF">2026-05-28T07:25:15Z</dcterms:modified>
</cp:coreProperties>
</file>