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んにちは、河村です。前期、トマトの栽培データを自動で記録・可視化するシステムを作りました。最終目標は糖度と収穫量を高めること。そのためにデータを集め、最終的に機械学習で『どう育てれば糖度と収穫量が上がるか』を分析・予測したいと考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システムは『測る・ためる・見せる』の3つに分かれます。測る=ESP32＋センサー3本、ためる=サーバーのDB、見せる=ブラウザのダッシュボード。加えて天気APIから気温・湿度・日照も自動取得しています。発表直前に、精度を上げるため『1株を3本で測って平均』する方式に変更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技術は3領域です。マイコンは ESP32 を Arduino(C++)で。誤接続で一度壊した教訓から保護抵抗を入れています。サーバーは Python の FastAPI と PostgreSQL を Docker で。画面は React と Chart.js。天気は Open-Meteo、管理は Git/GitHub。種類の違う3領域を一つにつなげたのが特徴です。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 が3本の値を読み、WiFi 経由で HTTP POST(JSON)でサーバーへ送ります。省電力のためディープスリープも使用。サーバーの FastAPI が DB に保存し、ブラウザは GET で取得して Chart.js で描画。天気は別の Python スクリプトが定時取得して POST。全部 REST API＋JSON という共通の方法でつないでいるので、後から拡張しやすい作りです。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ためたデータで糖度と収穫量を高める条件を探します。トマトは水を絞ると糖度↑だが収穫量↓という相反する性質があり、だからこそ多角的な学習に意味があります。入力は水分・気温・湿度・日照・水やり間隔など、出力は糖度と収穫量。まずは説明しやすい回帰から始め、評価は時系列分割で MAE/RMSE。当面はデータをためることが課題です。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ます。前期は『測る・ためる・見せる』をマイコンからブラウザまで一通り作り上げ、センサー故障や通信設定の失敗も乗り越えました。後期は、ためたデータを機械学習に活かし、最終目標である『糖度と収穫量を高める育て方』をデータから見つけるところまで進めたいです。以上です。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057400"/>
            <a:ext cx="201168" cy="1783080"/>
          </a:xfrm>
          <a:prstGeom prst="rect">
            <a:avLst/>
          </a:prstGeom>
          <a:solidFill>
            <a:srgbClr val="E2483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0116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トマト栽培データ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モニタリングシステム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70432" y="3977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48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糖度と収穫量を高める  IoT × データ活用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70432" y="4526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ESP32 ＋ 静電容量式土壌水分センサー × 3  ／  FastAPI ＋ PostgreSQL  ／  React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70432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18124058  河村隼介   ｜   前期取り組み発表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66760" y="160020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F4F6F6"/>
          </a:solidFill>
          <a:ln w="12700">
            <a:solidFill>
              <a:srgbClr val="D9DE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828800"/>
            <a:ext cx="2651760" cy="2651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6676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静電容量式 土壌水分センサー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82880" cy="384048"/>
          </a:xfrm>
          <a:prstGeom prst="rect">
            <a:avLst/>
          </a:prstGeom>
          <a:solidFill>
            <a:srgbClr val="E248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システムの全体像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「測る・ためる・見せる」の3つの役割で構成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E248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465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18488" y="21671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ESP32 と静電容量式センサー3本で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土壌水分を計測する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566928" cy="566928"/>
          </a:xfrm>
          <a:prstGeom prst="ellipse">
            <a:avLst/>
          </a:prstGeom>
          <a:solidFill>
            <a:srgbClr val="2FA15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1181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ためる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18488" y="35387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サーバーのデータベースに一元管理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(水分・天気・水やり・収穫・糖度)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526280"/>
            <a:ext cx="566928" cy="56692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44897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見せる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18488" y="49103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ブラウザのダッシュボードで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グラフ・数値として可視化する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783080"/>
            <a:ext cx="5074920" cy="3246120"/>
          </a:xfrm>
          <a:prstGeom prst="roundRect">
            <a:avLst>
              <a:gd name="adj" fmla="val 2817"/>
            </a:avLst>
          </a:prstGeom>
          <a:solidFill>
            <a:srgbClr val="F4F6F6"/>
          </a:solidFill>
          <a:ln w="19050">
            <a:solidFill>
              <a:srgbClr val="D9DED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537960" y="3108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 ダッシュボード画面のスクリーンショットをここに 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5532120"/>
            <a:ext cx="10469880" cy="868680"/>
          </a:xfrm>
          <a:prstGeom prst="roundRect">
            <a:avLst>
              <a:gd name="adj" fmla="val 8421"/>
            </a:avLst>
          </a:prstGeom>
          <a:solidFill>
            <a:srgbClr val="FCEEEC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5321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48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計測方法の改良：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1株を3本のセンサーで測り、その平均をその株の代表値とする方式に変更（精度向上）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82880" cy="384048"/>
          </a:xfrm>
          <a:prstGeom prst="rect">
            <a:avLst/>
          </a:prstGeom>
          <a:solidFill>
            <a:srgbClr val="E248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使った技術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組み込み・サーバー・フロントの3領域を一つにつなげた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F4F6F6"/>
          </a:solidFill>
          <a:ln w="12700">
            <a:solidFill>
              <a:srgbClr val="D9DEDE"/>
            </a:solidFill>
            <a:prstDash val="solid"/>
          </a:ln>
        </p:spPr>
      </p:sp>
      <p:pic>
        <p:nvPicPr>
          <p:cNvPr id="6" name="Image 0" descr="img/esp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011680"/>
            <a:ext cx="150876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32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ESP32 (マイコン)</a:t>
            </a:r>
            <a:endParaRPr lang="en-US" sz="1300" dirty="0"/>
          </a:p>
        </p:txBody>
      </p:sp>
      <p:pic>
        <p:nvPicPr>
          <p:cNvPr id="8" name="Image 1" descr="img/sen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160520"/>
            <a:ext cx="1737360" cy="1737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4846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土壌水分センサー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874520"/>
            <a:ext cx="146304" cy="914400"/>
          </a:xfrm>
          <a:prstGeom prst="rect">
            <a:avLst/>
          </a:prstGeom>
          <a:solidFill>
            <a:srgbClr val="E2483D"/>
          </a:solidFill>
          <a:ln/>
        </p:spPr>
      </p:sp>
      <p:sp>
        <p:nvSpPr>
          <p:cNvPr id="11" name="Text 7"/>
          <p:cNvSpPr/>
          <p:nvPr/>
        </p:nvSpPr>
        <p:spPr>
          <a:xfrm>
            <a:off x="576072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マイコン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760720" y="22585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ESP32 ＋ Arduino (C++)、1kΩ 保護抵抗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40680" y="2971800"/>
            <a:ext cx="146304" cy="914400"/>
          </a:xfrm>
          <a:prstGeom prst="rect">
            <a:avLst/>
          </a:prstGeom>
          <a:solidFill>
            <a:srgbClr val="2FA15A"/>
          </a:solidFill>
          <a:ln/>
        </p:spPr>
      </p:sp>
      <p:sp>
        <p:nvSpPr>
          <p:cNvPr id="14" name="Text 10"/>
          <p:cNvSpPr/>
          <p:nvPr/>
        </p:nvSpPr>
        <p:spPr>
          <a:xfrm>
            <a:off x="576072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760720" y="335584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＋ FastAPI、PostgreSQL、Docker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40680" y="4069080"/>
            <a:ext cx="146304" cy="914400"/>
          </a:xfrm>
          <a:prstGeom prst="rect">
            <a:avLst/>
          </a:prstGeom>
          <a:solidFill>
            <a:srgbClr val="2F7DD1"/>
          </a:solidFill>
          <a:ln/>
        </p:spPr>
      </p:sp>
      <p:sp>
        <p:nvSpPr>
          <p:cNvPr id="17" name="Text 13"/>
          <p:cNvSpPr/>
          <p:nvPr/>
        </p:nvSpPr>
        <p:spPr>
          <a:xfrm>
            <a:off x="576072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フロント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760720" y="44531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React ＋ Vite、Chart.js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40680" y="5166360"/>
            <a:ext cx="146304" cy="914400"/>
          </a:xfrm>
          <a:prstGeom prst="rect">
            <a:avLst/>
          </a:prstGeom>
          <a:solidFill>
            <a:srgbClr val="8E5AA8"/>
          </a:solidFill>
          <a:ln/>
        </p:spPr>
      </p:sp>
      <p:sp>
        <p:nvSpPr>
          <p:cNvPr id="20" name="Text 16"/>
          <p:cNvSpPr/>
          <p:nvPr/>
        </p:nvSpPr>
        <p:spPr>
          <a:xfrm>
            <a:off x="576072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5760720" y="55504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Open-Meteo (天気API)、Git / GitHub、後期: scikit-learn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82880" cy="384048"/>
          </a:xfrm>
          <a:prstGeom prst="rect">
            <a:avLst/>
          </a:prstGeom>
          <a:solidFill>
            <a:srgbClr val="E248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通信のしくみ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機器・画面・天気を REST API ＋ JSON でつなぐ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E248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860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ESP32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土壌水分センサー ×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7720" y="22860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2FA1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2860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FastAPI ＋ PostgreSQL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 (Docker)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95360" y="22860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2F7DD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0" y="228600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 (React)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94760" y="2990088"/>
            <a:ext cx="822960" cy="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83280" y="2286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48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WiFi / HTTP POST (JSON)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18120" y="2990088"/>
            <a:ext cx="777240" cy="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63524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7D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 GET (JSON)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480060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8E5A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天気API (Open-Meteo)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気温・湿度・日照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0" cy="109728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640080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5A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Pythonスクリプトが定時取得 → POST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機器も画面も天気も、すべて同じ「REST API ＋ JSON」でやり取り。後から部品を足しやすい作り。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82880" cy="384048"/>
          </a:xfrm>
          <a:prstGeom prst="rect">
            <a:avLst/>
          </a:prstGeom>
          <a:solidFill>
            <a:srgbClr val="E248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この後の機械学習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ためたデータで、糖度と収穫量を高める条件を探す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7315200" cy="868680"/>
          </a:xfrm>
          <a:prstGeom prst="roundRect">
            <a:avLst>
              <a:gd name="adj" fmla="val 10526"/>
            </a:avLst>
          </a:prstGeom>
          <a:solidFill>
            <a:srgbClr val="E2483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830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目標：糖度と収穫量を高める「育て方の条件」をデータから見つける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A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水を絞ると糖度は上がるが収穫量は下がる（相反する）。だからこそ複数データを多角的に学習させる意味がある。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F4F6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033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70332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入力データ  </a:t>
            </a:r>
            <a:pPr indent="0" marL="0">
              <a:buNone/>
            </a:pPr>
            <a:r>
              <a:rPr lang="en-US" sz="12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土壌水分・気温・湿度・日照・水やり間隔(ラグ特徴量)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526280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F4F6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5262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452628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  </a:t>
            </a:r>
            <a:pPr indent="0" marL="0">
              <a:buNone/>
            </a:pPr>
            <a:r>
              <a:rPr lang="en-US" sz="12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回帰(線形・決定木・RF) → 発展: LightGBM・LSTM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349240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F4F6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349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534924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  </a:t>
            </a:r>
            <a:pPr indent="0" marL="0">
              <a:buNone/>
            </a:pPr>
            <a:r>
              <a:rPr lang="en-US" sz="12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時系列で分割し過去で学習・未来を予測 / MAE・RMSE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03920" y="1783080"/>
            <a:ext cx="2834640" cy="4434840"/>
          </a:xfrm>
          <a:prstGeom prst="roundRect">
            <a:avLst>
              <a:gd name="adj" fmla="val 3226"/>
            </a:avLst>
          </a:prstGeom>
          <a:solidFill>
            <a:srgbClr val="F4F6F6"/>
          </a:solidFill>
          <a:ln w="12700">
            <a:solidFill>
              <a:srgbClr val="D9DEDE"/>
            </a:solidFill>
            <a:prstDash val="solid"/>
          </a:ln>
        </p:spPr>
      </p:sp>
      <p:pic>
        <p:nvPicPr>
          <p:cNvPr id="18" name="Image 0" descr="img/b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194560"/>
            <a:ext cx="1463040" cy="20116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50392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糖度計 (KTD-01)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41080" y="4754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糖度・収穫量という「正解データ」はすでに取得できている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82880" cy="384048"/>
          </a:xfrm>
          <a:prstGeom prst="rect">
            <a:avLst/>
          </a:prstGeom>
          <a:solidFill>
            <a:srgbClr val="E248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F4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00200"/>
            <a:ext cx="146304" cy="3291840"/>
          </a:xfrm>
          <a:prstGeom prst="rect">
            <a:avLst/>
          </a:prstGeom>
          <a:solidFill>
            <a:srgbClr val="2FA15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前期（できたこと）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3774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「測る・ためる・見せる」をマイコン〜サーバー〜ブラウザで一通り構築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センサーの故障や通信設定など多くの失敗を、原因を調べて乗り越えた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1株を3本で測る方式や写真記録などを追加・改良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FCEEEC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00200"/>
            <a:ext cx="146304" cy="3291840"/>
          </a:xfrm>
          <a:prstGeom prst="rect">
            <a:avLst/>
          </a:prstGeom>
          <a:solidFill>
            <a:srgbClr val="E2483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8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後期（これから）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3774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ためたデータを機械学習に活用する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最終目標「糖度と収穫量を高める育て方」をデータから見つける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EC・施肥などの計測データも増やして精度を上げる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525780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データに基づくトマト栽培へ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6126480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5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18124058  河村隼介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トマト栽培データモニタリングシステム</dc:title>
  <dc:subject>PptxGenJS Presentation</dc:subject>
  <dc:creator>河村隼介</dc:creator>
  <cp:lastModifiedBy>河村隼介</cp:lastModifiedBy>
  <cp:revision>1</cp:revision>
  <dcterms:created xsi:type="dcterms:W3CDTF">2026-05-27T08:11:19Z</dcterms:created>
  <dcterms:modified xsi:type="dcterms:W3CDTF">2026-05-27T08:11:19Z</dcterms:modified>
</cp:coreProperties>
</file>